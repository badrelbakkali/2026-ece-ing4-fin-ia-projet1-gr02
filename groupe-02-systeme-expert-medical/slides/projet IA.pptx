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 u="heavy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813164" y="1168117"/>
            <a:ext cx="446405" cy="128270"/>
          </a:xfrm>
          <a:custGeom>
            <a:avLst/>
            <a:gdLst/>
            <a:ahLst/>
            <a:cxnLst/>
            <a:rect l="l" t="t" r="r" b="b"/>
            <a:pathLst>
              <a:path w="446405" h="128269">
                <a:moveTo>
                  <a:pt x="382126" y="128021"/>
                </a:moveTo>
                <a:lnTo>
                  <a:pt x="64011" y="128021"/>
                </a:lnTo>
                <a:lnTo>
                  <a:pt x="51464" y="126779"/>
                </a:lnTo>
                <a:lnTo>
                  <a:pt x="10754" y="99523"/>
                </a:lnTo>
                <a:lnTo>
                  <a:pt x="0" y="64010"/>
                </a:lnTo>
                <a:lnTo>
                  <a:pt x="1241" y="51464"/>
                </a:lnTo>
                <a:lnTo>
                  <a:pt x="28497" y="10754"/>
                </a:lnTo>
                <a:lnTo>
                  <a:pt x="64011" y="0"/>
                </a:lnTo>
                <a:lnTo>
                  <a:pt x="382126" y="0"/>
                </a:lnTo>
                <a:lnTo>
                  <a:pt x="427388" y="18748"/>
                </a:lnTo>
                <a:lnTo>
                  <a:pt x="446137" y="64010"/>
                </a:lnTo>
                <a:lnTo>
                  <a:pt x="444896" y="76556"/>
                </a:lnTo>
                <a:lnTo>
                  <a:pt x="417638" y="117266"/>
                </a:lnTo>
                <a:lnTo>
                  <a:pt x="382126" y="12802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8478" y="1168117"/>
            <a:ext cx="446137" cy="12802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326927" y="1782977"/>
            <a:ext cx="9023985" cy="76200"/>
          </a:xfrm>
          <a:custGeom>
            <a:avLst/>
            <a:gdLst/>
            <a:ahLst/>
            <a:cxnLst/>
            <a:rect l="l" t="t" r="r" b="b"/>
            <a:pathLst>
              <a:path w="9023985" h="76200">
                <a:moveTo>
                  <a:pt x="9023746" y="76199"/>
                </a:moveTo>
                <a:lnTo>
                  <a:pt x="0" y="76199"/>
                </a:lnTo>
                <a:lnTo>
                  <a:pt x="0" y="0"/>
                </a:lnTo>
                <a:lnTo>
                  <a:pt x="9023746" y="0"/>
                </a:lnTo>
                <a:lnTo>
                  <a:pt x="9023746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822769" y="3380095"/>
            <a:ext cx="5668645" cy="5225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975687" y="2830537"/>
            <a:ext cx="5535294" cy="6027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 u="heavy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813164" y="1168117"/>
            <a:ext cx="446405" cy="128270"/>
          </a:xfrm>
          <a:custGeom>
            <a:avLst/>
            <a:gdLst/>
            <a:ahLst/>
            <a:cxnLst/>
            <a:rect l="l" t="t" r="r" b="b"/>
            <a:pathLst>
              <a:path w="446405" h="128269">
                <a:moveTo>
                  <a:pt x="382126" y="128021"/>
                </a:moveTo>
                <a:lnTo>
                  <a:pt x="64011" y="128021"/>
                </a:lnTo>
                <a:lnTo>
                  <a:pt x="51464" y="126779"/>
                </a:lnTo>
                <a:lnTo>
                  <a:pt x="10754" y="99523"/>
                </a:lnTo>
                <a:lnTo>
                  <a:pt x="0" y="64010"/>
                </a:lnTo>
                <a:lnTo>
                  <a:pt x="1241" y="51464"/>
                </a:lnTo>
                <a:lnTo>
                  <a:pt x="28497" y="10754"/>
                </a:lnTo>
                <a:lnTo>
                  <a:pt x="64011" y="0"/>
                </a:lnTo>
                <a:lnTo>
                  <a:pt x="382126" y="0"/>
                </a:lnTo>
                <a:lnTo>
                  <a:pt x="427388" y="18748"/>
                </a:lnTo>
                <a:lnTo>
                  <a:pt x="446137" y="64010"/>
                </a:lnTo>
                <a:lnTo>
                  <a:pt x="444896" y="76556"/>
                </a:lnTo>
                <a:lnTo>
                  <a:pt x="417638" y="117266"/>
                </a:lnTo>
                <a:lnTo>
                  <a:pt x="382126" y="128021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98478" y="1168117"/>
            <a:ext cx="446137" cy="1280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4734" y="722022"/>
            <a:ext cx="13013055" cy="942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 u="heavy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5697" y="2703996"/>
            <a:ext cx="7816215" cy="288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64B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obiledss.uottawa.ca/fileadmin/publications/pdf/paper_jms_2016.pdf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pdf.sciencedirectassets.com/280203/1-s2.0-S1877050915X00275/1-s2.0-S1877050915028604/main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l.archives-ouvertes.fr/hal-01610722/document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1003280"/>
            <a:chOff x="0" y="0"/>
            <a:chExt cx="18288000" cy="11003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68620" y="4525739"/>
              <a:ext cx="8044815" cy="5525135"/>
            </a:xfrm>
            <a:custGeom>
              <a:avLst/>
              <a:gdLst/>
              <a:ahLst/>
              <a:cxnLst/>
              <a:rect l="l" t="t" r="r" b="b"/>
              <a:pathLst>
                <a:path w="8044815" h="5525134">
                  <a:moveTo>
                    <a:pt x="3700904" y="5512118"/>
                  </a:moveTo>
                  <a:lnTo>
                    <a:pt x="3782431" y="5517791"/>
                  </a:lnTo>
                  <a:lnTo>
                    <a:pt x="3830094" y="5520313"/>
                  </a:lnTo>
                  <a:lnTo>
                    <a:pt x="3877903" y="5522279"/>
                  </a:lnTo>
                  <a:lnTo>
                    <a:pt x="3925853" y="5523687"/>
                  </a:lnTo>
                  <a:lnTo>
                    <a:pt x="3973942" y="5524535"/>
                  </a:lnTo>
                  <a:lnTo>
                    <a:pt x="4022167" y="5524818"/>
                  </a:lnTo>
                  <a:lnTo>
                    <a:pt x="4070392" y="5524535"/>
                  </a:lnTo>
                  <a:lnTo>
                    <a:pt x="4118481" y="5523687"/>
                  </a:lnTo>
                  <a:lnTo>
                    <a:pt x="4166431" y="5522279"/>
                  </a:lnTo>
                  <a:lnTo>
                    <a:pt x="4214240" y="5520313"/>
                  </a:lnTo>
                  <a:lnTo>
                    <a:pt x="4261903" y="5517791"/>
                  </a:lnTo>
                  <a:lnTo>
                    <a:pt x="4309418" y="5514719"/>
                  </a:lnTo>
                  <a:lnTo>
                    <a:pt x="4343430" y="5512118"/>
                  </a:lnTo>
                </a:path>
                <a:path w="8044815" h="5525134">
                  <a:moveTo>
                    <a:pt x="3568236" y="5499418"/>
                  </a:moveTo>
                  <a:lnTo>
                    <a:pt x="3593292" y="5502223"/>
                  </a:lnTo>
                  <a:lnTo>
                    <a:pt x="3640343" y="5506931"/>
                  </a:lnTo>
                  <a:lnTo>
                    <a:pt x="3687552" y="5511098"/>
                  </a:lnTo>
                  <a:lnTo>
                    <a:pt x="3700904" y="5512118"/>
                  </a:lnTo>
                </a:path>
                <a:path w="8044815" h="5525134">
                  <a:moveTo>
                    <a:pt x="4343430" y="5512118"/>
                  </a:moveTo>
                  <a:lnTo>
                    <a:pt x="4356782" y="5511098"/>
                  </a:lnTo>
                  <a:lnTo>
                    <a:pt x="4403991" y="5506931"/>
                  </a:lnTo>
                  <a:lnTo>
                    <a:pt x="4451042" y="5502223"/>
                  </a:lnTo>
                  <a:lnTo>
                    <a:pt x="4476098" y="5499418"/>
                  </a:lnTo>
                </a:path>
                <a:path w="8044815" h="5525134">
                  <a:moveTo>
                    <a:pt x="3466703" y="5486718"/>
                  </a:moveTo>
                  <a:lnTo>
                    <a:pt x="3499675" y="5491191"/>
                  </a:lnTo>
                  <a:lnTo>
                    <a:pt x="3546401" y="5496975"/>
                  </a:lnTo>
                  <a:lnTo>
                    <a:pt x="3568236" y="5499418"/>
                  </a:lnTo>
                </a:path>
                <a:path w="8044815" h="5525134">
                  <a:moveTo>
                    <a:pt x="4476098" y="5499418"/>
                  </a:moveTo>
                  <a:lnTo>
                    <a:pt x="4497932" y="5496975"/>
                  </a:lnTo>
                  <a:lnTo>
                    <a:pt x="4544659" y="5491191"/>
                  </a:lnTo>
                  <a:lnTo>
                    <a:pt x="4577631" y="5486718"/>
                  </a:lnTo>
                </a:path>
                <a:path w="8044815" h="5525134">
                  <a:moveTo>
                    <a:pt x="3381582" y="5474018"/>
                  </a:moveTo>
                  <a:lnTo>
                    <a:pt x="3406727" y="5478029"/>
                  </a:lnTo>
                  <a:lnTo>
                    <a:pt x="3453116" y="5484875"/>
                  </a:lnTo>
                  <a:lnTo>
                    <a:pt x="3466703" y="5486718"/>
                  </a:lnTo>
                </a:path>
                <a:path w="8044815" h="5525134">
                  <a:moveTo>
                    <a:pt x="4577631" y="5486718"/>
                  </a:moveTo>
                  <a:lnTo>
                    <a:pt x="4591218" y="5484875"/>
                  </a:lnTo>
                  <a:lnTo>
                    <a:pt x="4637607" y="5478029"/>
                  </a:lnTo>
                  <a:lnTo>
                    <a:pt x="4662752" y="5474018"/>
                  </a:lnTo>
                </a:path>
                <a:path w="8044815" h="5525134">
                  <a:moveTo>
                    <a:pt x="3239323" y="5448618"/>
                  </a:moveTo>
                  <a:lnTo>
                    <a:pt x="3268614" y="5454346"/>
                  </a:lnTo>
                  <a:lnTo>
                    <a:pt x="3314473" y="5462762"/>
                  </a:lnTo>
                  <a:lnTo>
                    <a:pt x="3360512" y="5470657"/>
                  </a:lnTo>
                  <a:lnTo>
                    <a:pt x="3381582" y="5474018"/>
                  </a:lnTo>
                </a:path>
                <a:path w="8044815" h="5525134">
                  <a:moveTo>
                    <a:pt x="4662752" y="5474018"/>
                  </a:moveTo>
                  <a:lnTo>
                    <a:pt x="4683822" y="5470657"/>
                  </a:lnTo>
                  <a:lnTo>
                    <a:pt x="4729861" y="5462762"/>
                  </a:lnTo>
                  <a:lnTo>
                    <a:pt x="4775720" y="5454346"/>
                  </a:lnTo>
                  <a:lnTo>
                    <a:pt x="4805010" y="5448618"/>
                  </a:lnTo>
                </a:path>
                <a:path w="8044815" h="5525134">
                  <a:moveTo>
                    <a:pt x="290117" y="49"/>
                  </a:moveTo>
                  <a:lnTo>
                    <a:pt x="290007" y="324"/>
                  </a:lnTo>
                </a:path>
                <a:path w="8044815" h="5525134">
                  <a:moveTo>
                    <a:pt x="13739" y="1167984"/>
                  </a:moveTo>
                  <a:lnTo>
                    <a:pt x="13682" y="1168720"/>
                  </a:lnTo>
                </a:path>
                <a:path w="8044815" h="5525134">
                  <a:moveTo>
                    <a:pt x="2524" y="1358327"/>
                  </a:moveTo>
                  <a:lnTo>
                    <a:pt x="1174" y="1406278"/>
                  </a:lnTo>
                  <a:lnTo>
                    <a:pt x="333" y="1454367"/>
                  </a:lnTo>
                  <a:lnTo>
                    <a:pt x="0" y="1502590"/>
                  </a:lnTo>
                  <a:lnTo>
                    <a:pt x="41" y="1511618"/>
                  </a:lnTo>
                  <a:lnTo>
                    <a:pt x="181" y="1550815"/>
                  </a:lnTo>
                  <a:lnTo>
                    <a:pt x="1033" y="1598904"/>
                  </a:lnTo>
                  <a:lnTo>
                    <a:pt x="1082" y="1600518"/>
                  </a:lnTo>
                  <a:lnTo>
                    <a:pt x="2355" y="1646857"/>
                  </a:lnTo>
                  <a:lnTo>
                    <a:pt x="4444" y="1694662"/>
                  </a:lnTo>
                  <a:lnTo>
                    <a:pt x="6965" y="1742326"/>
                  </a:lnTo>
                  <a:lnTo>
                    <a:pt x="9943" y="1789848"/>
                  </a:lnTo>
                  <a:lnTo>
                    <a:pt x="10035" y="1791019"/>
                  </a:lnTo>
                  <a:lnTo>
                    <a:pt x="13659" y="1837204"/>
                  </a:lnTo>
                  <a:lnTo>
                    <a:pt x="17825" y="1884413"/>
                  </a:lnTo>
                  <a:lnTo>
                    <a:pt x="22534" y="1931465"/>
                  </a:lnTo>
                  <a:lnTo>
                    <a:pt x="27782" y="1978355"/>
                  </a:lnTo>
                  <a:lnTo>
                    <a:pt x="33565" y="2025081"/>
                  </a:lnTo>
                  <a:lnTo>
                    <a:pt x="39881" y="2071641"/>
                  </a:lnTo>
                  <a:lnTo>
                    <a:pt x="46727" y="2118029"/>
                  </a:lnTo>
                  <a:lnTo>
                    <a:pt x="54099" y="2164245"/>
                  </a:lnTo>
                  <a:lnTo>
                    <a:pt x="61995" y="2210284"/>
                  </a:lnTo>
                  <a:lnTo>
                    <a:pt x="70410" y="2256143"/>
                  </a:lnTo>
                  <a:lnTo>
                    <a:pt x="79342" y="2301819"/>
                  </a:lnTo>
                  <a:lnTo>
                    <a:pt x="88789" y="2347309"/>
                  </a:lnTo>
                  <a:lnTo>
                    <a:pt x="98746" y="2392609"/>
                  </a:lnTo>
                  <a:lnTo>
                    <a:pt x="109210" y="2437718"/>
                  </a:lnTo>
                  <a:lnTo>
                    <a:pt x="120179" y="2482631"/>
                  </a:lnTo>
                  <a:lnTo>
                    <a:pt x="131573" y="2527367"/>
                  </a:lnTo>
                  <a:lnTo>
                    <a:pt x="143616" y="2571857"/>
                  </a:lnTo>
                  <a:lnTo>
                    <a:pt x="155975" y="2616199"/>
                  </a:lnTo>
                  <a:lnTo>
                    <a:pt x="156070" y="2616521"/>
                  </a:lnTo>
                  <a:lnTo>
                    <a:pt x="169034" y="2660264"/>
                  </a:lnTo>
                  <a:lnTo>
                    <a:pt x="182477" y="2704151"/>
                  </a:lnTo>
                  <a:lnTo>
                    <a:pt x="196406" y="2747825"/>
                  </a:lnTo>
                  <a:lnTo>
                    <a:pt x="210816" y="2791281"/>
                  </a:lnTo>
                  <a:lnTo>
                    <a:pt x="225706" y="2834516"/>
                  </a:lnTo>
                  <a:lnTo>
                    <a:pt x="241072" y="2877527"/>
                  </a:lnTo>
                  <a:lnTo>
                    <a:pt x="256911" y="2920311"/>
                  </a:lnTo>
                  <a:lnTo>
                    <a:pt x="273220" y="2962865"/>
                  </a:lnTo>
                  <a:lnTo>
                    <a:pt x="289995" y="3005186"/>
                  </a:lnTo>
                  <a:lnTo>
                    <a:pt x="307233" y="3047270"/>
                  </a:lnTo>
                  <a:lnTo>
                    <a:pt x="324932" y="3089114"/>
                  </a:lnTo>
                  <a:lnTo>
                    <a:pt x="343088" y="3130716"/>
                  </a:lnTo>
                  <a:lnTo>
                    <a:pt x="361697" y="3172072"/>
                  </a:lnTo>
                  <a:lnTo>
                    <a:pt x="380662" y="3213226"/>
                  </a:lnTo>
                  <a:lnTo>
                    <a:pt x="380755" y="3213420"/>
                  </a:lnTo>
                  <a:lnTo>
                    <a:pt x="400266" y="3254033"/>
                  </a:lnTo>
                  <a:lnTo>
                    <a:pt x="420218" y="3294632"/>
                  </a:lnTo>
                  <a:lnTo>
                    <a:pt x="440612" y="3334972"/>
                  </a:lnTo>
                  <a:lnTo>
                    <a:pt x="461444" y="3375051"/>
                  </a:lnTo>
                  <a:lnTo>
                    <a:pt x="482711" y="3414864"/>
                  </a:lnTo>
                  <a:lnTo>
                    <a:pt x="504410" y="3454410"/>
                  </a:lnTo>
                  <a:lnTo>
                    <a:pt x="526537" y="3493685"/>
                  </a:lnTo>
                  <a:lnTo>
                    <a:pt x="549091" y="3532685"/>
                  </a:lnTo>
                  <a:lnTo>
                    <a:pt x="572066" y="3571408"/>
                  </a:lnTo>
                  <a:lnTo>
                    <a:pt x="595461" y="3609850"/>
                  </a:lnTo>
                  <a:lnTo>
                    <a:pt x="619272" y="3648009"/>
                  </a:lnTo>
                  <a:lnTo>
                    <a:pt x="643496" y="3685880"/>
                  </a:lnTo>
                  <a:lnTo>
                    <a:pt x="668130" y="3723462"/>
                  </a:lnTo>
                  <a:lnTo>
                    <a:pt x="693170" y="3760750"/>
                  </a:lnTo>
                  <a:lnTo>
                    <a:pt x="718614" y="3797742"/>
                  </a:lnTo>
                  <a:lnTo>
                    <a:pt x="744458" y="3834434"/>
                  </a:lnTo>
                  <a:lnTo>
                    <a:pt x="770700" y="3870824"/>
                  </a:lnTo>
                  <a:lnTo>
                    <a:pt x="797335" y="3906908"/>
                  </a:lnTo>
                  <a:lnTo>
                    <a:pt x="824362" y="3942683"/>
                  </a:lnTo>
                  <a:lnTo>
                    <a:pt x="851776" y="3978145"/>
                  </a:lnTo>
                  <a:lnTo>
                    <a:pt x="879462" y="4013416"/>
                  </a:lnTo>
                  <a:lnTo>
                    <a:pt x="907755" y="4048122"/>
                  </a:lnTo>
                  <a:lnTo>
                    <a:pt x="936313" y="4082630"/>
                  </a:lnTo>
                  <a:lnTo>
                    <a:pt x="965247" y="4116812"/>
                  </a:lnTo>
                  <a:lnTo>
                    <a:pt x="994553" y="4150667"/>
                  </a:lnTo>
                  <a:lnTo>
                    <a:pt x="1024227" y="4184191"/>
                  </a:lnTo>
                  <a:lnTo>
                    <a:pt x="1054267" y="4217381"/>
                  </a:lnTo>
                  <a:lnTo>
                    <a:pt x="1084670" y="4250233"/>
                  </a:lnTo>
                  <a:lnTo>
                    <a:pt x="1115432" y="4282745"/>
                  </a:lnTo>
                  <a:lnTo>
                    <a:pt x="1146550" y="4314913"/>
                  </a:lnTo>
                  <a:lnTo>
                    <a:pt x="1178022" y="4346734"/>
                  </a:lnTo>
                  <a:lnTo>
                    <a:pt x="1209843" y="4378206"/>
                  </a:lnTo>
                  <a:lnTo>
                    <a:pt x="1242012" y="4409324"/>
                  </a:lnTo>
                  <a:lnTo>
                    <a:pt x="1274523" y="4440086"/>
                  </a:lnTo>
                  <a:lnTo>
                    <a:pt x="1307490" y="4470595"/>
                  </a:lnTo>
                  <a:lnTo>
                    <a:pt x="1340565" y="4500529"/>
                  </a:lnTo>
                  <a:lnTo>
                    <a:pt x="1374089" y="4530204"/>
                  </a:lnTo>
                  <a:lnTo>
                    <a:pt x="1407892" y="4559579"/>
                  </a:lnTo>
                  <a:lnTo>
                    <a:pt x="1442127" y="4588443"/>
                  </a:lnTo>
                  <a:lnTo>
                    <a:pt x="1476634" y="4617002"/>
                  </a:lnTo>
                  <a:lnTo>
                    <a:pt x="1511463" y="4645182"/>
                  </a:lnTo>
                  <a:lnTo>
                    <a:pt x="1546611" y="4672981"/>
                  </a:lnTo>
                  <a:lnTo>
                    <a:pt x="1582074" y="4700395"/>
                  </a:lnTo>
                  <a:lnTo>
                    <a:pt x="1617849" y="4727421"/>
                  </a:lnTo>
                  <a:lnTo>
                    <a:pt x="1653932" y="4754057"/>
                  </a:lnTo>
                  <a:lnTo>
                    <a:pt x="1690322" y="4780298"/>
                  </a:lnTo>
                  <a:lnTo>
                    <a:pt x="1727014" y="4806142"/>
                  </a:lnTo>
                  <a:lnTo>
                    <a:pt x="1764006" y="4831586"/>
                  </a:lnTo>
                  <a:lnTo>
                    <a:pt x="1801295" y="4856627"/>
                  </a:lnTo>
                  <a:lnTo>
                    <a:pt x="1838876" y="4881260"/>
                  </a:lnTo>
                  <a:lnTo>
                    <a:pt x="1876748" y="4905484"/>
                  </a:lnTo>
                  <a:lnTo>
                    <a:pt x="1914906" y="4929295"/>
                  </a:lnTo>
                  <a:lnTo>
                    <a:pt x="1953348" y="4952690"/>
                  </a:lnTo>
                  <a:lnTo>
                    <a:pt x="1992071" y="4975666"/>
                  </a:lnTo>
                  <a:lnTo>
                    <a:pt x="2031072" y="4998219"/>
                  </a:lnTo>
                  <a:lnTo>
                    <a:pt x="2070346" y="5020347"/>
                  </a:lnTo>
                  <a:lnTo>
                    <a:pt x="2109814" y="5042168"/>
                  </a:lnTo>
                  <a:lnTo>
                    <a:pt x="2149706" y="5063312"/>
                  </a:lnTo>
                  <a:lnTo>
                    <a:pt x="2189784" y="5084144"/>
                  </a:lnTo>
                  <a:lnTo>
                    <a:pt x="2230125" y="5104538"/>
                  </a:lnTo>
                  <a:lnTo>
                    <a:pt x="2270724" y="5124491"/>
                  </a:lnTo>
                  <a:lnTo>
                    <a:pt x="2311578" y="5143999"/>
                  </a:lnTo>
                  <a:lnTo>
                    <a:pt x="2352685" y="5163059"/>
                  </a:lnTo>
                  <a:lnTo>
                    <a:pt x="2394040" y="5181669"/>
                  </a:lnTo>
                  <a:lnTo>
                    <a:pt x="2435642" y="5199825"/>
                  </a:lnTo>
                  <a:lnTo>
                    <a:pt x="2477487" y="5217523"/>
                  </a:lnTo>
                  <a:lnTo>
                    <a:pt x="2519571" y="5234762"/>
                  </a:lnTo>
                  <a:lnTo>
                    <a:pt x="2561891" y="5251537"/>
                  </a:lnTo>
                  <a:lnTo>
                    <a:pt x="2604445" y="5267845"/>
                  </a:lnTo>
                  <a:lnTo>
                    <a:pt x="2647229" y="5283684"/>
                  </a:lnTo>
                  <a:lnTo>
                    <a:pt x="2690241" y="5299050"/>
                  </a:lnTo>
                  <a:lnTo>
                    <a:pt x="2733476" y="5313940"/>
                  </a:lnTo>
                  <a:lnTo>
                    <a:pt x="2776931" y="5328351"/>
                  </a:lnTo>
                  <a:lnTo>
                    <a:pt x="2820605" y="5342279"/>
                  </a:lnTo>
                  <a:lnTo>
                    <a:pt x="2864493" y="5355723"/>
                  </a:lnTo>
                  <a:lnTo>
                    <a:pt x="2908592" y="5368677"/>
                  </a:lnTo>
                  <a:lnTo>
                    <a:pt x="2952899" y="5381140"/>
                  </a:lnTo>
                  <a:lnTo>
                    <a:pt x="2997412" y="5393108"/>
                  </a:lnTo>
                  <a:lnTo>
                    <a:pt x="3042126" y="5404578"/>
                  </a:lnTo>
                  <a:lnTo>
                    <a:pt x="3087039" y="5415547"/>
                  </a:lnTo>
                  <a:lnTo>
                    <a:pt x="3132147" y="5426011"/>
                  </a:lnTo>
                  <a:lnTo>
                    <a:pt x="3177448" y="5435968"/>
                  </a:lnTo>
                  <a:lnTo>
                    <a:pt x="3222938" y="5445414"/>
                  </a:lnTo>
                  <a:lnTo>
                    <a:pt x="3239323" y="5448618"/>
                  </a:lnTo>
                </a:path>
                <a:path w="8044815" h="5525134">
                  <a:moveTo>
                    <a:pt x="4805010" y="5448618"/>
                  </a:moveTo>
                  <a:lnTo>
                    <a:pt x="4866886" y="5435968"/>
                  </a:lnTo>
                  <a:lnTo>
                    <a:pt x="4912187" y="5426011"/>
                  </a:lnTo>
                  <a:lnTo>
                    <a:pt x="4957295" y="5415547"/>
                  </a:lnTo>
                  <a:lnTo>
                    <a:pt x="5002208" y="5404578"/>
                  </a:lnTo>
                  <a:lnTo>
                    <a:pt x="5046922" y="5393108"/>
                  </a:lnTo>
                  <a:lnTo>
                    <a:pt x="5091435" y="5381140"/>
                  </a:lnTo>
                  <a:lnTo>
                    <a:pt x="5135742" y="5368677"/>
                  </a:lnTo>
                  <a:lnTo>
                    <a:pt x="5179841" y="5355723"/>
                  </a:lnTo>
                  <a:lnTo>
                    <a:pt x="5223729" y="5342279"/>
                  </a:lnTo>
                  <a:lnTo>
                    <a:pt x="5267402" y="5328351"/>
                  </a:lnTo>
                  <a:lnTo>
                    <a:pt x="5310858" y="5313940"/>
                  </a:lnTo>
                  <a:lnTo>
                    <a:pt x="5354093" y="5299050"/>
                  </a:lnTo>
                  <a:lnTo>
                    <a:pt x="5397104" y="5283684"/>
                  </a:lnTo>
                  <a:lnTo>
                    <a:pt x="5439889" y="5267845"/>
                  </a:lnTo>
                  <a:lnTo>
                    <a:pt x="5482443" y="5251537"/>
                  </a:lnTo>
                  <a:lnTo>
                    <a:pt x="5524763" y="5234762"/>
                  </a:lnTo>
                  <a:lnTo>
                    <a:pt x="5566847" y="5217523"/>
                  </a:lnTo>
                  <a:lnTo>
                    <a:pt x="5608692" y="5199825"/>
                  </a:lnTo>
                  <a:lnTo>
                    <a:pt x="5650293" y="5181669"/>
                  </a:lnTo>
                  <a:lnTo>
                    <a:pt x="5691649" y="5163059"/>
                  </a:lnTo>
                  <a:lnTo>
                    <a:pt x="5732756" y="5143999"/>
                  </a:lnTo>
                  <a:lnTo>
                    <a:pt x="5773610" y="5124491"/>
                  </a:lnTo>
                  <a:lnTo>
                    <a:pt x="5814209" y="5104538"/>
                  </a:lnTo>
                  <a:lnTo>
                    <a:pt x="5854549" y="5084144"/>
                  </a:lnTo>
                  <a:lnTo>
                    <a:pt x="5894628" y="5063312"/>
                  </a:lnTo>
                  <a:lnTo>
                    <a:pt x="5934520" y="5042169"/>
                  </a:lnTo>
                  <a:lnTo>
                    <a:pt x="5973988" y="5020347"/>
                  </a:lnTo>
                  <a:lnTo>
                    <a:pt x="6013262" y="4998219"/>
                  </a:lnTo>
                  <a:lnTo>
                    <a:pt x="6052263" y="4975666"/>
                  </a:lnTo>
                  <a:lnTo>
                    <a:pt x="6090985" y="4952690"/>
                  </a:lnTo>
                  <a:lnTo>
                    <a:pt x="6129428" y="4929295"/>
                  </a:lnTo>
                  <a:lnTo>
                    <a:pt x="6167586" y="4905484"/>
                  </a:lnTo>
                  <a:lnTo>
                    <a:pt x="6205458" y="4881260"/>
                  </a:lnTo>
                  <a:lnTo>
                    <a:pt x="6243039" y="4856627"/>
                  </a:lnTo>
                  <a:lnTo>
                    <a:pt x="6280327" y="4831586"/>
                  </a:lnTo>
                  <a:lnTo>
                    <a:pt x="6317319" y="4806142"/>
                  </a:lnTo>
                  <a:lnTo>
                    <a:pt x="6354012" y="4780298"/>
                  </a:lnTo>
                  <a:lnTo>
                    <a:pt x="6390401" y="4754057"/>
                  </a:lnTo>
                  <a:lnTo>
                    <a:pt x="6426485" y="4727421"/>
                  </a:lnTo>
                  <a:lnTo>
                    <a:pt x="6462260" y="4700395"/>
                  </a:lnTo>
                  <a:lnTo>
                    <a:pt x="6497723" y="4672981"/>
                  </a:lnTo>
                  <a:lnTo>
                    <a:pt x="6532870" y="4645182"/>
                  </a:lnTo>
                  <a:lnTo>
                    <a:pt x="6567699" y="4617002"/>
                  </a:lnTo>
                  <a:lnTo>
                    <a:pt x="6602207" y="4588443"/>
                  </a:lnTo>
                  <a:lnTo>
                    <a:pt x="6636444" y="4559559"/>
                  </a:lnTo>
                  <a:lnTo>
                    <a:pt x="6670245" y="4530204"/>
                  </a:lnTo>
                  <a:lnTo>
                    <a:pt x="6703768" y="4500529"/>
                  </a:lnTo>
                  <a:lnTo>
                    <a:pt x="6736844" y="4470592"/>
                  </a:lnTo>
                  <a:lnTo>
                    <a:pt x="6769810" y="4440086"/>
                  </a:lnTo>
                  <a:lnTo>
                    <a:pt x="6802322" y="4409324"/>
                  </a:lnTo>
                  <a:lnTo>
                    <a:pt x="6834490" y="4378206"/>
                  </a:lnTo>
                  <a:lnTo>
                    <a:pt x="6866312" y="4346734"/>
                  </a:lnTo>
                  <a:lnTo>
                    <a:pt x="6897783" y="4314913"/>
                  </a:lnTo>
                  <a:lnTo>
                    <a:pt x="6928902" y="4282745"/>
                  </a:lnTo>
                  <a:lnTo>
                    <a:pt x="6959664" y="4250233"/>
                  </a:lnTo>
                  <a:lnTo>
                    <a:pt x="6990067" y="4217381"/>
                  </a:lnTo>
                  <a:lnTo>
                    <a:pt x="7020107" y="4184191"/>
                  </a:lnTo>
                  <a:lnTo>
                    <a:pt x="7049781" y="4150667"/>
                  </a:lnTo>
                  <a:lnTo>
                    <a:pt x="7079087" y="4116812"/>
                  </a:lnTo>
                  <a:lnTo>
                    <a:pt x="7108021" y="4082630"/>
                  </a:lnTo>
                  <a:lnTo>
                    <a:pt x="7136579" y="4048122"/>
                  </a:lnTo>
                  <a:lnTo>
                    <a:pt x="7164649" y="4013429"/>
                  </a:lnTo>
                  <a:lnTo>
                    <a:pt x="7164777" y="4013313"/>
                  </a:lnTo>
                  <a:lnTo>
                    <a:pt x="7192558" y="3978145"/>
                  </a:lnTo>
                  <a:lnTo>
                    <a:pt x="7219972" y="3942683"/>
                  </a:lnTo>
                  <a:lnTo>
                    <a:pt x="7246999" y="3906908"/>
                  </a:lnTo>
                  <a:lnTo>
                    <a:pt x="7273634" y="3870824"/>
                  </a:lnTo>
                  <a:lnTo>
                    <a:pt x="7299876" y="3834434"/>
                  </a:lnTo>
                  <a:lnTo>
                    <a:pt x="7325720" y="3797742"/>
                  </a:lnTo>
                  <a:lnTo>
                    <a:pt x="7351164" y="3760750"/>
                  </a:lnTo>
                  <a:lnTo>
                    <a:pt x="7376204" y="3723462"/>
                  </a:lnTo>
                  <a:lnTo>
                    <a:pt x="7400838" y="3685880"/>
                  </a:lnTo>
                  <a:lnTo>
                    <a:pt x="7425062" y="3648009"/>
                  </a:lnTo>
                  <a:lnTo>
                    <a:pt x="7448873" y="3609850"/>
                  </a:lnTo>
                  <a:lnTo>
                    <a:pt x="7472268" y="3571408"/>
                  </a:lnTo>
                  <a:lnTo>
                    <a:pt x="7495243" y="3532685"/>
                  </a:lnTo>
                  <a:lnTo>
                    <a:pt x="7517796" y="3493685"/>
                  </a:lnTo>
                  <a:lnTo>
                    <a:pt x="7539924" y="3454410"/>
                  </a:lnTo>
                  <a:lnTo>
                    <a:pt x="7561623" y="3414864"/>
                  </a:lnTo>
                  <a:lnTo>
                    <a:pt x="7582890" y="3375051"/>
                  </a:lnTo>
                  <a:lnTo>
                    <a:pt x="7603722" y="3334972"/>
                  </a:lnTo>
                  <a:lnTo>
                    <a:pt x="7624116" y="3294632"/>
                  </a:lnTo>
                  <a:lnTo>
                    <a:pt x="7644068" y="3254033"/>
                  </a:lnTo>
                  <a:lnTo>
                    <a:pt x="7663483" y="3213374"/>
                  </a:lnTo>
                  <a:lnTo>
                    <a:pt x="7663580" y="3213180"/>
                  </a:lnTo>
                  <a:lnTo>
                    <a:pt x="7682637" y="3172072"/>
                  </a:lnTo>
                  <a:lnTo>
                    <a:pt x="7701246" y="3130716"/>
                  </a:lnTo>
                  <a:lnTo>
                    <a:pt x="7719402" y="3089114"/>
                  </a:lnTo>
                  <a:lnTo>
                    <a:pt x="7737101" y="3047270"/>
                  </a:lnTo>
                  <a:lnTo>
                    <a:pt x="7754339" y="3005186"/>
                  </a:lnTo>
                  <a:lnTo>
                    <a:pt x="7771114" y="2962865"/>
                  </a:lnTo>
                  <a:lnTo>
                    <a:pt x="7787423" y="2920311"/>
                  </a:lnTo>
                  <a:lnTo>
                    <a:pt x="7803261" y="2877527"/>
                  </a:lnTo>
                  <a:lnTo>
                    <a:pt x="7818627" y="2834516"/>
                  </a:lnTo>
                  <a:lnTo>
                    <a:pt x="7833517" y="2791281"/>
                  </a:lnTo>
                  <a:lnTo>
                    <a:pt x="7847928" y="2747825"/>
                  </a:lnTo>
                  <a:lnTo>
                    <a:pt x="7861857" y="2704151"/>
                  </a:lnTo>
                  <a:lnTo>
                    <a:pt x="7875300" y="2660264"/>
                  </a:lnTo>
                  <a:lnTo>
                    <a:pt x="7888159" y="2616490"/>
                  </a:lnTo>
                  <a:lnTo>
                    <a:pt x="7888265" y="2616168"/>
                  </a:lnTo>
                  <a:lnTo>
                    <a:pt x="7900717" y="2571857"/>
                  </a:lnTo>
                  <a:lnTo>
                    <a:pt x="7912617" y="2527600"/>
                  </a:lnTo>
                  <a:lnTo>
                    <a:pt x="7912693" y="2527347"/>
                  </a:lnTo>
                  <a:lnTo>
                    <a:pt x="7924155" y="2482631"/>
                  </a:lnTo>
                  <a:lnTo>
                    <a:pt x="7935124" y="2437718"/>
                  </a:lnTo>
                  <a:lnTo>
                    <a:pt x="7945588" y="2392609"/>
                  </a:lnTo>
                  <a:lnTo>
                    <a:pt x="7955545" y="2347309"/>
                  </a:lnTo>
                  <a:lnTo>
                    <a:pt x="7964991" y="2301819"/>
                  </a:lnTo>
                  <a:lnTo>
                    <a:pt x="7973924" y="2256143"/>
                  </a:lnTo>
                  <a:lnTo>
                    <a:pt x="7982339" y="2210284"/>
                  </a:lnTo>
                  <a:lnTo>
                    <a:pt x="7990235" y="2164245"/>
                  </a:lnTo>
                  <a:lnTo>
                    <a:pt x="7997607" y="2118029"/>
                  </a:lnTo>
                  <a:lnTo>
                    <a:pt x="8004453" y="2071641"/>
                  </a:lnTo>
                  <a:lnTo>
                    <a:pt x="8010769" y="2025081"/>
                  </a:lnTo>
                  <a:lnTo>
                    <a:pt x="8016552" y="1978355"/>
                  </a:lnTo>
                  <a:lnTo>
                    <a:pt x="8021800" y="1931465"/>
                  </a:lnTo>
                  <a:lnTo>
                    <a:pt x="8026509" y="1884413"/>
                  </a:lnTo>
                  <a:lnTo>
                    <a:pt x="8030675" y="1837204"/>
                  </a:lnTo>
                  <a:lnTo>
                    <a:pt x="8034207" y="1791012"/>
                  </a:lnTo>
                  <a:lnTo>
                    <a:pt x="8034304" y="1789841"/>
                  </a:lnTo>
                  <a:lnTo>
                    <a:pt x="8037369" y="1742326"/>
                  </a:lnTo>
                  <a:lnTo>
                    <a:pt x="8039890" y="1694662"/>
                  </a:lnTo>
                  <a:lnTo>
                    <a:pt x="8041981" y="1646857"/>
                  </a:lnTo>
                  <a:lnTo>
                    <a:pt x="8043222" y="1600517"/>
                  </a:lnTo>
                  <a:lnTo>
                    <a:pt x="8044178" y="1550815"/>
                  </a:lnTo>
                  <a:lnTo>
                    <a:pt x="8044355" y="1511618"/>
                  </a:lnTo>
                  <a:lnTo>
                    <a:pt x="8044312" y="1502590"/>
                  </a:lnTo>
                  <a:lnTo>
                    <a:pt x="8044139" y="1460819"/>
                  </a:lnTo>
                  <a:lnTo>
                    <a:pt x="8044028" y="1454366"/>
                  </a:lnTo>
                  <a:lnTo>
                    <a:pt x="8043324" y="1410018"/>
                  </a:lnTo>
                  <a:lnTo>
                    <a:pt x="8043216" y="1406277"/>
                  </a:lnTo>
                  <a:lnTo>
                    <a:pt x="8041882" y="1359218"/>
                  </a:lnTo>
                  <a:lnTo>
                    <a:pt x="8041835" y="1358326"/>
                  </a:lnTo>
                </a:path>
                <a:path w="8044815" h="5525134">
                  <a:moveTo>
                    <a:pt x="8030732" y="1168714"/>
                  </a:moveTo>
                  <a:lnTo>
                    <a:pt x="8030650" y="1167978"/>
                  </a:lnTo>
                </a:path>
                <a:path w="8044815" h="5525134">
                  <a:moveTo>
                    <a:pt x="7974027" y="749600"/>
                  </a:moveTo>
                  <a:lnTo>
                    <a:pt x="7973895" y="749043"/>
                  </a:lnTo>
                </a:path>
                <a:path w="8044815" h="5525134">
                  <a:moveTo>
                    <a:pt x="7754451" y="275"/>
                  </a:moveTo>
                  <a:lnTo>
                    <a:pt x="7754325" y="0"/>
                  </a:lnTo>
                </a:path>
              </a:pathLst>
            </a:custGeom>
            <a:ln w="1904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813164" y="1168117"/>
              <a:ext cx="446405" cy="128270"/>
            </a:xfrm>
            <a:custGeom>
              <a:avLst/>
              <a:gdLst/>
              <a:ahLst/>
              <a:cxnLst/>
              <a:rect l="l" t="t" r="r" b="b"/>
              <a:pathLst>
                <a:path w="446405" h="128269">
                  <a:moveTo>
                    <a:pt x="382126" y="128021"/>
                  </a:moveTo>
                  <a:lnTo>
                    <a:pt x="64011" y="128021"/>
                  </a:lnTo>
                  <a:lnTo>
                    <a:pt x="51464" y="126779"/>
                  </a:lnTo>
                  <a:lnTo>
                    <a:pt x="10754" y="99523"/>
                  </a:lnTo>
                  <a:lnTo>
                    <a:pt x="0" y="64010"/>
                  </a:lnTo>
                  <a:lnTo>
                    <a:pt x="1241" y="51464"/>
                  </a:lnTo>
                  <a:lnTo>
                    <a:pt x="28497" y="10754"/>
                  </a:lnTo>
                  <a:lnTo>
                    <a:pt x="64011" y="0"/>
                  </a:lnTo>
                  <a:lnTo>
                    <a:pt x="382126" y="0"/>
                  </a:lnTo>
                  <a:lnTo>
                    <a:pt x="427388" y="18748"/>
                  </a:lnTo>
                  <a:lnTo>
                    <a:pt x="446137" y="64010"/>
                  </a:lnTo>
                  <a:lnTo>
                    <a:pt x="444896" y="76556"/>
                  </a:lnTo>
                  <a:lnTo>
                    <a:pt x="417638" y="117266"/>
                  </a:lnTo>
                  <a:lnTo>
                    <a:pt x="382126" y="1280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98478" y="1168117"/>
              <a:ext cx="446137" cy="1280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50070" y="6028403"/>
              <a:ext cx="3832860" cy="2691130"/>
            </a:xfrm>
            <a:custGeom>
              <a:avLst/>
              <a:gdLst/>
              <a:ahLst/>
              <a:cxnLst/>
              <a:rect l="l" t="t" r="r" b="b"/>
              <a:pathLst>
                <a:path w="3832860" h="2691129">
                  <a:moveTo>
                    <a:pt x="2880239" y="2690817"/>
                  </a:moveTo>
                  <a:lnTo>
                    <a:pt x="952500" y="2690817"/>
                  </a:lnTo>
                  <a:lnTo>
                    <a:pt x="904960" y="2689651"/>
                  </a:lnTo>
                  <a:lnTo>
                    <a:pt x="858024" y="2686191"/>
                  </a:lnTo>
                  <a:lnTo>
                    <a:pt x="811746" y="2680489"/>
                  </a:lnTo>
                  <a:lnTo>
                    <a:pt x="766180" y="2672602"/>
                  </a:lnTo>
                  <a:lnTo>
                    <a:pt x="721382" y="2662584"/>
                  </a:lnTo>
                  <a:lnTo>
                    <a:pt x="677405" y="2650489"/>
                  </a:lnTo>
                  <a:lnTo>
                    <a:pt x="634304" y="2636372"/>
                  </a:lnTo>
                  <a:lnTo>
                    <a:pt x="592134" y="2620287"/>
                  </a:lnTo>
                  <a:lnTo>
                    <a:pt x="550950" y="2602289"/>
                  </a:lnTo>
                  <a:lnTo>
                    <a:pt x="510805" y="2582433"/>
                  </a:lnTo>
                  <a:lnTo>
                    <a:pt x="471755" y="2560773"/>
                  </a:lnTo>
                  <a:lnTo>
                    <a:pt x="433853" y="2537363"/>
                  </a:lnTo>
                  <a:lnTo>
                    <a:pt x="397156" y="2512259"/>
                  </a:lnTo>
                  <a:lnTo>
                    <a:pt x="361716" y="2485515"/>
                  </a:lnTo>
                  <a:lnTo>
                    <a:pt x="327590" y="2457185"/>
                  </a:lnTo>
                  <a:lnTo>
                    <a:pt x="294830" y="2427324"/>
                  </a:lnTo>
                  <a:lnTo>
                    <a:pt x="263493" y="2395986"/>
                  </a:lnTo>
                  <a:lnTo>
                    <a:pt x="233632" y="2363227"/>
                  </a:lnTo>
                  <a:lnTo>
                    <a:pt x="205302" y="2329100"/>
                  </a:lnTo>
                  <a:lnTo>
                    <a:pt x="178557" y="2293661"/>
                  </a:lnTo>
                  <a:lnTo>
                    <a:pt x="153453" y="2256963"/>
                  </a:lnTo>
                  <a:lnTo>
                    <a:pt x="130044" y="2219062"/>
                  </a:lnTo>
                  <a:lnTo>
                    <a:pt x="108384" y="2180012"/>
                  </a:lnTo>
                  <a:lnTo>
                    <a:pt x="88527" y="2139867"/>
                  </a:lnTo>
                  <a:lnTo>
                    <a:pt x="70529" y="2098682"/>
                  </a:lnTo>
                  <a:lnTo>
                    <a:pt x="54445" y="2056512"/>
                  </a:lnTo>
                  <a:lnTo>
                    <a:pt x="40327" y="2013412"/>
                  </a:lnTo>
                  <a:lnTo>
                    <a:pt x="28232" y="1969435"/>
                  </a:lnTo>
                  <a:lnTo>
                    <a:pt x="18214" y="1924636"/>
                  </a:lnTo>
                  <a:lnTo>
                    <a:pt x="10327" y="1879070"/>
                  </a:lnTo>
                  <a:lnTo>
                    <a:pt x="4626" y="1832792"/>
                  </a:lnTo>
                  <a:lnTo>
                    <a:pt x="1165" y="1785856"/>
                  </a:lnTo>
                  <a:lnTo>
                    <a:pt x="0" y="1738317"/>
                  </a:lnTo>
                  <a:lnTo>
                    <a:pt x="0" y="952500"/>
                  </a:lnTo>
                  <a:lnTo>
                    <a:pt x="1165" y="904960"/>
                  </a:lnTo>
                  <a:lnTo>
                    <a:pt x="4626" y="858024"/>
                  </a:lnTo>
                  <a:lnTo>
                    <a:pt x="10327" y="811746"/>
                  </a:lnTo>
                  <a:lnTo>
                    <a:pt x="18214" y="766180"/>
                  </a:lnTo>
                  <a:lnTo>
                    <a:pt x="28232" y="721382"/>
                  </a:lnTo>
                  <a:lnTo>
                    <a:pt x="40327" y="677405"/>
                  </a:lnTo>
                  <a:lnTo>
                    <a:pt x="54445" y="634304"/>
                  </a:lnTo>
                  <a:lnTo>
                    <a:pt x="70529" y="592134"/>
                  </a:lnTo>
                  <a:lnTo>
                    <a:pt x="88527" y="550950"/>
                  </a:lnTo>
                  <a:lnTo>
                    <a:pt x="108384" y="510805"/>
                  </a:lnTo>
                  <a:lnTo>
                    <a:pt x="130044" y="471755"/>
                  </a:lnTo>
                  <a:lnTo>
                    <a:pt x="153453" y="433853"/>
                  </a:lnTo>
                  <a:lnTo>
                    <a:pt x="178557" y="397156"/>
                  </a:lnTo>
                  <a:lnTo>
                    <a:pt x="205302" y="361716"/>
                  </a:lnTo>
                  <a:lnTo>
                    <a:pt x="233632" y="327590"/>
                  </a:lnTo>
                  <a:lnTo>
                    <a:pt x="263493" y="294830"/>
                  </a:lnTo>
                  <a:lnTo>
                    <a:pt x="294830" y="263493"/>
                  </a:lnTo>
                  <a:lnTo>
                    <a:pt x="327590" y="233632"/>
                  </a:lnTo>
                  <a:lnTo>
                    <a:pt x="361716" y="205302"/>
                  </a:lnTo>
                  <a:lnTo>
                    <a:pt x="397156" y="178557"/>
                  </a:lnTo>
                  <a:lnTo>
                    <a:pt x="433853" y="153453"/>
                  </a:lnTo>
                  <a:lnTo>
                    <a:pt x="471755" y="130044"/>
                  </a:lnTo>
                  <a:lnTo>
                    <a:pt x="510805" y="108384"/>
                  </a:lnTo>
                  <a:lnTo>
                    <a:pt x="550950" y="88527"/>
                  </a:lnTo>
                  <a:lnTo>
                    <a:pt x="592134" y="70529"/>
                  </a:lnTo>
                  <a:lnTo>
                    <a:pt x="634304" y="54445"/>
                  </a:lnTo>
                  <a:lnTo>
                    <a:pt x="677405" y="40327"/>
                  </a:lnTo>
                  <a:lnTo>
                    <a:pt x="721382" y="28232"/>
                  </a:lnTo>
                  <a:lnTo>
                    <a:pt x="766180" y="18214"/>
                  </a:lnTo>
                  <a:lnTo>
                    <a:pt x="811746" y="10327"/>
                  </a:lnTo>
                  <a:lnTo>
                    <a:pt x="858024" y="4626"/>
                  </a:lnTo>
                  <a:lnTo>
                    <a:pt x="904960" y="1165"/>
                  </a:lnTo>
                  <a:lnTo>
                    <a:pt x="952500" y="0"/>
                  </a:lnTo>
                  <a:lnTo>
                    <a:pt x="2880239" y="0"/>
                  </a:lnTo>
                  <a:lnTo>
                    <a:pt x="2927779" y="1165"/>
                  </a:lnTo>
                  <a:lnTo>
                    <a:pt x="2974715" y="4626"/>
                  </a:lnTo>
                  <a:lnTo>
                    <a:pt x="3020993" y="10327"/>
                  </a:lnTo>
                  <a:lnTo>
                    <a:pt x="3066558" y="18214"/>
                  </a:lnTo>
                  <a:lnTo>
                    <a:pt x="3111357" y="28232"/>
                  </a:lnTo>
                  <a:lnTo>
                    <a:pt x="3155334" y="40327"/>
                  </a:lnTo>
                  <a:lnTo>
                    <a:pt x="3198435" y="54445"/>
                  </a:lnTo>
                  <a:lnTo>
                    <a:pt x="3240605" y="70529"/>
                  </a:lnTo>
                  <a:lnTo>
                    <a:pt x="3281789" y="88527"/>
                  </a:lnTo>
                  <a:lnTo>
                    <a:pt x="3321934" y="108384"/>
                  </a:lnTo>
                  <a:lnTo>
                    <a:pt x="3360984" y="130044"/>
                  </a:lnTo>
                  <a:lnTo>
                    <a:pt x="3398886" y="153453"/>
                  </a:lnTo>
                  <a:lnTo>
                    <a:pt x="3435583" y="178557"/>
                  </a:lnTo>
                  <a:lnTo>
                    <a:pt x="3471023" y="205302"/>
                  </a:lnTo>
                  <a:lnTo>
                    <a:pt x="3505149" y="233632"/>
                  </a:lnTo>
                  <a:lnTo>
                    <a:pt x="3537909" y="263493"/>
                  </a:lnTo>
                  <a:lnTo>
                    <a:pt x="3569246" y="294830"/>
                  </a:lnTo>
                  <a:lnTo>
                    <a:pt x="3599107" y="327590"/>
                  </a:lnTo>
                  <a:lnTo>
                    <a:pt x="3627437" y="361716"/>
                  </a:lnTo>
                  <a:lnTo>
                    <a:pt x="3654182" y="397156"/>
                  </a:lnTo>
                  <a:lnTo>
                    <a:pt x="3679286" y="433853"/>
                  </a:lnTo>
                  <a:lnTo>
                    <a:pt x="3702695" y="471755"/>
                  </a:lnTo>
                  <a:lnTo>
                    <a:pt x="3724356" y="510805"/>
                  </a:lnTo>
                  <a:lnTo>
                    <a:pt x="3744212" y="550950"/>
                  </a:lnTo>
                  <a:lnTo>
                    <a:pt x="3762210" y="592134"/>
                  </a:lnTo>
                  <a:lnTo>
                    <a:pt x="3778295" y="634304"/>
                  </a:lnTo>
                  <a:lnTo>
                    <a:pt x="3792412" y="677405"/>
                  </a:lnTo>
                  <a:lnTo>
                    <a:pt x="3804507" y="721382"/>
                  </a:lnTo>
                  <a:lnTo>
                    <a:pt x="3814525" y="766180"/>
                  </a:lnTo>
                  <a:lnTo>
                    <a:pt x="3822412" y="811746"/>
                  </a:lnTo>
                  <a:lnTo>
                    <a:pt x="3828113" y="858024"/>
                  </a:lnTo>
                  <a:lnTo>
                    <a:pt x="3831574" y="904960"/>
                  </a:lnTo>
                  <a:lnTo>
                    <a:pt x="3832740" y="952500"/>
                  </a:lnTo>
                  <a:lnTo>
                    <a:pt x="3832740" y="1738317"/>
                  </a:lnTo>
                  <a:lnTo>
                    <a:pt x="3831574" y="1785856"/>
                  </a:lnTo>
                  <a:lnTo>
                    <a:pt x="3828113" y="1832792"/>
                  </a:lnTo>
                  <a:lnTo>
                    <a:pt x="3822412" y="1879070"/>
                  </a:lnTo>
                  <a:lnTo>
                    <a:pt x="3814525" y="1924636"/>
                  </a:lnTo>
                  <a:lnTo>
                    <a:pt x="3804507" y="1969435"/>
                  </a:lnTo>
                  <a:lnTo>
                    <a:pt x="3792412" y="2013412"/>
                  </a:lnTo>
                  <a:lnTo>
                    <a:pt x="3778295" y="2056512"/>
                  </a:lnTo>
                  <a:lnTo>
                    <a:pt x="3762210" y="2098682"/>
                  </a:lnTo>
                  <a:lnTo>
                    <a:pt x="3744212" y="2139867"/>
                  </a:lnTo>
                  <a:lnTo>
                    <a:pt x="3724356" y="2180012"/>
                  </a:lnTo>
                  <a:lnTo>
                    <a:pt x="3702695" y="2219062"/>
                  </a:lnTo>
                  <a:lnTo>
                    <a:pt x="3679286" y="2256963"/>
                  </a:lnTo>
                  <a:lnTo>
                    <a:pt x="3654182" y="2293661"/>
                  </a:lnTo>
                  <a:lnTo>
                    <a:pt x="3627437" y="2329100"/>
                  </a:lnTo>
                  <a:lnTo>
                    <a:pt x="3599107" y="2363227"/>
                  </a:lnTo>
                  <a:lnTo>
                    <a:pt x="3569246" y="2395986"/>
                  </a:lnTo>
                  <a:lnTo>
                    <a:pt x="3537909" y="2427324"/>
                  </a:lnTo>
                  <a:lnTo>
                    <a:pt x="3505149" y="2457185"/>
                  </a:lnTo>
                  <a:lnTo>
                    <a:pt x="3471023" y="2485515"/>
                  </a:lnTo>
                  <a:lnTo>
                    <a:pt x="3435583" y="2512259"/>
                  </a:lnTo>
                  <a:lnTo>
                    <a:pt x="3398886" y="2537363"/>
                  </a:lnTo>
                  <a:lnTo>
                    <a:pt x="3360984" y="2560773"/>
                  </a:lnTo>
                  <a:lnTo>
                    <a:pt x="3321934" y="2582433"/>
                  </a:lnTo>
                  <a:lnTo>
                    <a:pt x="3281789" y="2602289"/>
                  </a:lnTo>
                  <a:lnTo>
                    <a:pt x="3240605" y="2620287"/>
                  </a:lnTo>
                  <a:lnTo>
                    <a:pt x="3198435" y="2636372"/>
                  </a:lnTo>
                  <a:lnTo>
                    <a:pt x="3155334" y="2650489"/>
                  </a:lnTo>
                  <a:lnTo>
                    <a:pt x="3111357" y="2662584"/>
                  </a:lnTo>
                  <a:lnTo>
                    <a:pt x="3066558" y="2672602"/>
                  </a:lnTo>
                  <a:lnTo>
                    <a:pt x="3020993" y="2680489"/>
                  </a:lnTo>
                  <a:lnTo>
                    <a:pt x="2974715" y="2686191"/>
                  </a:lnTo>
                  <a:lnTo>
                    <a:pt x="2927779" y="2689651"/>
                  </a:lnTo>
                  <a:lnTo>
                    <a:pt x="2880239" y="2690817"/>
                  </a:lnTo>
                  <a:close/>
                </a:path>
              </a:pathLst>
            </a:custGeom>
            <a:solidFill>
              <a:srgbClr val="FFFFFF">
                <a:alpha val="70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399" y="2357595"/>
              <a:ext cx="1795780" cy="1795780"/>
            </a:xfrm>
            <a:custGeom>
              <a:avLst/>
              <a:gdLst/>
              <a:ahLst/>
              <a:cxnLst/>
              <a:rect l="l" t="t" r="r" b="b"/>
              <a:pathLst>
                <a:path w="1795780" h="1795779">
                  <a:moveTo>
                    <a:pt x="1409350" y="1635512"/>
                  </a:moveTo>
                  <a:lnTo>
                    <a:pt x="1447821" y="1607321"/>
                  </a:lnTo>
                  <a:lnTo>
                    <a:pt x="1484364" y="1577488"/>
                  </a:lnTo>
                  <a:lnTo>
                    <a:pt x="1518964" y="1546100"/>
                  </a:lnTo>
                  <a:lnTo>
                    <a:pt x="1551606" y="1513243"/>
                  </a:lnTo>
                  <a:lnTo>
                    <a:pt x="1582274" y="1479003"/>
                  </a:lnTo>
                  <a:lnTo>
                    <a:pt x="1610952" y="1443466"/>
                  </a:lnTo>
                  <a:lnTo>
                    <a:pt x="1637624" y="1406719"/>
                  </a:lnTo>
                  <a:lnTo>
                    <a:pt x="1662276" y="1368849"/>
                  </a:lnTo>
                  <a:lnTo>
                    <a:pt x="1684891" y="1329941"/>
                  </a:lnTo>
                  <a:lnTo>
                    <a:pt x="1705453" y="1290082"/>
                  </a:lnTo>
                  <a:lnTo>
                    <a:pt x="1723948" y="1249358"/>
                  </a:lnTo>
                  <a:lnTo>
                    <a:pt x="1740359" y="1207855"/>
                  </a:lnTo>
                  <a:lnTo>
                    <a:pt x="1754671" y="1165661"/>
                  </a:lnTo>
                  <a:lnTo>
                    <a:pt x="1766869" y="1122860"/>
                  </a:lnTo>
                  <a:lnTo>
                    <a:pt x="1776935" y="1079541"/>
                  </a:lnTo>
                  <a:lnTo>
                    <a:pt x="1784856" y="1035788"/>
                  </a:lnTo>
                  <a:lnTo>
                    <a:pt x="1790615" y="991688"/>
                  </a:lnTo>
                  <a:lnTo>
                    <a:pt x="1794197" y="947328"/>
                  </a:lnTo>
                  <a:lnTo>
                    <a:pt x="1795586" y="902794"/>
                  </a:lnTo>
                  <a:lnTo>
                    <a:pt x="1794766" y="858173"/>
                  </a:lnTo>
                  <a:lnTo>
                    <a:pt x="1791722" y="813549"/>
                  </a:lnTo>
                  <a:lnTo>
                    <a:pt x="1786438" y="769011"/>
                  </a:lnTo>
                  <a:lnTo>
                    <a:pt x="1778899" y="724644"/>
                  </a:lnTo>
                  <a:lnTo>
                    <a:pt x="1769088" y="680535"/>
                  </a:lnTo>
                  <a:lnTo>
                    <a:pt x="1756991" y="636769"/>
                  </a:lnTo>
                  <a:lnTo>
                    <a:pt x="1742592" y="593434"/>
                  </a:lnTo>
                  <a:lnTo>
                    <a:pt x="1725874" y="550616"/>
                  </a:lnTo>
                  <a:lnTo>
                    <a:pt x="1706823" y="508400"/>
                  </a:lnTo>
                  <a:lnTo>
                    <a:pt x="1685423" y="466874"/>
                  </a:lnTo>
                  <a:lnTo>
                    <a:pt x="1661658" y="426123"/>
                  </a:lnTo>
                  <a:lnTo>
                    <a:pt x="1635512" y="386235"/>
                  </a:lnTo>
                  <a:lnTo>
                    <a:pt x="1607321" y="347764"/>
                  </a:lnTo>
                  <a:lnTo>
                    <a:pt x="1577488" y="311221"/>
                  </a:lnTo>
                  <a:lnTo>
                    <a:pt x="1546100" y="276621"/>
                  </a:lnTo>
                  <a:lnTo>
                    <a:pt x="1513243" y="243979"/>
                  </a:lnTo>
                  <a:lnTo>
                    <a:pt x="1479003" y="213311"/>
                  </a:lnTo>
                  <a:lnTo>
                    <a:pt x="1443466" y="184633"/>
                  </a:lnTo>
                  <a:lnTo>
                    <a:pt x="1406719" y="157961"/>
                  </a:lnTo>
                  <a:lnTo>
                    <a:pt x="1368849" y="133309"/>
                  </a:lnTo>
                  <a:lnTo>
                    <a:pt x="1329941" y="110694"/>
                  </a:lnTo>
                  <a:lnTo>
                    <a:pt x="1290081" y="90132"/>
                  </a:lnTo>
                  <a:lnTo>
                    <a:pt x="1249357" y="71637"/>
                  </a:lnTo>
                  <a:lnTo>
                    <a:pt x="1207855" y="55226"/>
                  </a:lnTo>
                  <a:lnTo>
                    <a:pt x="1165661" y="40914"/>
                  </a:lnTo>
                  <a:lnTo>
                    <a:pt x="1122860" y="28717"/>
                  </a:lnTo>
                  <a:lnTo>
                    <a:pt x="1079541" y="18650"/>
                  </a:lnTo>
                  <a:lnTo>
                    <a:pt x="1035788" y="10729"/>
                  </a:lnTo>
                  <a:lnTo>
                    <a:pt x="991688" y="4970"/>
                  </a:lnTo>
                  <a:lnTo>
                    <a:pt x="947328" y="1388"/>
                  </a:lnTo>
                  <a:lnTo>
                    <a:pt x="902794" y="0"/>
                  </a:lnTo>
                  <a:lnTo>
                    <a:pt x="858172" y="819"/>
                  </a:lnTo>
                  <a:lnTo>
                    <a:pt x="813549" y="3863"/>
                  </a:lnTo>
                  <a:lnTo>
                    <a:pt x="769011" y="9147"/>
                  </a:lnTo>
                  <a:lnTo>
                    <a:pt x="724644" y="16687"/>
                  </a:lnTo>
                  <a:lnTo>
                    <a:pt x="680535" y="26497"/>
                  </a:lnTo>
                  <a:lnTo>
                    <a:pt x="636769" y="38594"/>
                  </a:lnTo>
                  <a:lnTo>
                    <a:pt x="593434" y="52994"/>
                  </a:lnTo>
                  <a:lnTo>
                    <a:pt x="550616" y="69711"/>
                  </a:lnTo>
                  <a:lnTo>
                    <a:pt x="508400" y="88762"/>
                  </a:lnTo>
                  <a:lnTo>
                    <a:pt x="466874" y="110162"/>
                  </a:lnTo>
                  <a:lnTo>
                    <a:pt x="426123" y="133928"/>
                  </a:lnTo>
                  <a:lnTo>
                    <a:pt x="386235" y="160073"/>
                  </a:lnTo>
                  <a:lnTo>
                    <a:pt x="347764" y="188264"/>
                  </a:lnTo>
                  <a:lnTo>
                    <a:pt x="311221" y="218097"/>
                  </a:lnTo>
                  <a:lnTo>
                    <a:pt x="276621" y="249485"/>
                  </a:lnTo>
                  <a:lnTo>
                    <a:pt x="243979" y="282342"/>
                  </a:lnTo>
                  <a:lnTo>
                    <a:pt x="213311" y="316583"/>
                  </a:lnTo>
                  <a:lnTo>
                    <a:pt x="184633" y="352119"/>
                  </a:lnTo>
                  <a:lnTo>
                    <a:pt x="157961" y="388866"/>
                  </a:lnTo>
                  <a:lnTo>
                    <a:pt x="133309" y="426737"/>
                  </a:lnTo>
                  <a:lnTo>
                    <a:pt x="110694" y="465645"/>
                  </a:lnTo>
                  <a:lnTo>
                    <a:pt x="90132" y="505504"/>
                  </a:lnTo>
                  <a:lnTo>
                    <a:pt x="71637" y="546228"/>
                  </a:lnTo>
                  <a:lnTo>
                    <a:pt x="55226" y="587730"/>
                  </a:lnTo>
                  <a:lnTo>
                    <a:pt x="40914" y="629925"/>
                  </a:lnTo>
                  <a:lnTo>
                    <a:pt x="28717" y="672725"/>
                  </a:lnTo>
                  <a:lnTo>
                    <a:pt x="18650" y="716045"/>
                  </a:lnTo>
                  <a:lnTo>
                    <a:pt x="10729" y="759797"/>
                  </a:lnTo>
                  <a:lnTo>
                    <a:pt x="4970" y="803897"/>
                  </a:lnTo>
                  <a:lnTo>
                    <a:pt x="1388" y="848257"/>
                  </a:lnTo>
                  <a:lnTo>
                    <a:pt x="0" y="892791"/>
                  </a:lnTo>
                  <a:lnTo>
                    <a:pt x="819" y="937413"/>
                  </a:lnTo>
                  <a:lnTo>
                    <a:pt x="3863" y="982036"/>
                  </a:lnTo>
                  <a:lnTo>
                    <a:pt x="9147" y="1026574"/>
                  </a:lnTo>
                  <a:lnTo>
                    <a:pt x="16686" y="1070941"/>
                  </a:lnTo>
                  <a:lnTo>
                    <a:pt x="26497" y="1115050"/>
                  </a:lnTo>
                  <a:lnTo>
                    <a:pt x="38594" y="1158816"/>
                  </a:lnTo>
                  <a:lnTo>
                    <a:pt x="52993" y="1202151"/>
                  </a:lnTo>
                  <a:lnTo>
                    <a:pt x="69711" y="1244969"/>
                  </a:lnTo>
                  <a:lnTo>
                    <a:pt x="88762" y="1287185"/>
                  </a:lnTo>
                  <a:lnTo>
                    <a:pt x="110162" y="1328711"/>
                  </a:lnTo>
                  <a:lnTo>
                    <a:pt x="133927" y="1369462"/>
                  </a:lnTo>
                  <a:lnTo>
                    <a:pt x="160073" y="1409350"/>
                  </a:lnTo>
                  <a:lnTo>
                    <a:pt x="188264" y="1447821"/>
                  </a:lnTo>
                  <a:lnTo>
                    <a:pt x="218097" y="1484364"/>
                  </a:lnTo>
                  <a:lnTo>
                    <a:pt x="249485" y="1518964"/>
                  </a:lnTo>
                  <a:lnTo>
                    <a:pt x="282342" y="1551606"/>
                  </a:lnTo>
                  <a:lnTo>
                    <a:pt x="316582" y="1582274"/>
                  </a:lnTo>
                  <a:lnTo>
                    <a:pt x="352119" y="1610952"/>
                  </a:lnTo>
                  <a:lnTo>
                    <a:pt x="388866" y="1637624"/>
                  </a:lnTo>
                  <a:lnTo>
                    <a:pt x="426736" y="1662276"/>
                  </a:lnTo>
                  <a:lnTo>
                    <a:pt x="465644" y="1684891"/>
                  </a:lnTo>
                  <a:lnTo>
                    <a:pt x="505504" y="1705453"/>
                  </a:lnTo>
                  <a:lnTo>
                    <a:pt x="546228" y="1723948"/>
                  </a:lnTo>
                  <a:lnTo>
                    <a:pt x="587730" y="1740359"/>
                  </a:lnTo>
                  <a:lnTo>
                    <a:pt x="629924" y="1754671"/>
                  </a:lnTo>
                  <a:lnTo>
                    <a:pt x="672725" y="1766869"/>
                  </a:lnTo>
                  <a:lnTo>
                    <a:pt x="716044" y="1776935"/>
                  </a:lnTo>
                  <a:lnTo>
                    <a:pt x="759797" y="1784856"/>
                  </a:lnTo>
                  <a:lnTo>
                    <a:pt x="803897" y="1790615"/>
                  </a:lnTo>
                  <a:lnTo>
                    <a:pt x="848257" y="1794197"/>
                  </a:lnTo>
                  <a:lnTo>
                    <a:pt x="892791" y="1795586"/>
                  </a:lnTo>
                  <a:lnTo>
                    <a:pt x="937413" y="1794766"/>
                  </a:lnTo>
                  <a:lnTo>
                    <a:pt x="982036" y="1791722"/>
                  </a:lnTo>
                  <a:lnTo>
                    <a:pt x="1026574" y="1786438"/>
                  </a:lnTo>
                  <a:lnTo>
                    <a:pt x="1070941" y="1778899"/>
                  </a:lnTo>
                  <a:lnTo>
                    <a:pt x="1115050" y="1769088"/>
                  </a:lnTo>
                  <a:lnTo>
                    <a:pt x="1158816" y="1756991"/>
                  </a:lnTo>
                  <a:lnTo>
                    <a:pt x="1202151" y="1742592"/>
                  </a:lnTo>
                  <a:lnTo>
                    <a:pt x="1244969" y="1725874"/>
                  </a:lnTo>
                  <a:lnTo>
                    <a:pt x="1287185" y="1706823"/>
                  </a:lnTo>
                  <a:lnTo>
                    <a:pt x="1328711" y="1685423"/>
                  </a:lnTo>
                  <a:lnTo>
                    <a:pt x="1369462" y="1661658"/>
                  </a:lnTo>
                  <a:lnTo>
                    <a:pt x="1409350" y="1635512"/>
                  </a:lnTo>
                </a:path>
              </a:pathLst>
            </a:custGeom>
            <a:ln w="514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21828" y="6326465"/>
              <a:ext cx="533399" cy="2028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90891" y="5302214"/>
              <a:ext cx="53339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55965" y="2293352"/>
              <a:ext cx="11289665" cy="95250"/>
            </a:xfrm>
            <a:custGeom>
              <a:avLst/>
              <a:gdLst/>
              <a:ahLst/>
              <a:cxnLst/>
              <a:rect l="l" t="t" r="r" b="b"/>
              <a:pathLst>
                <a:path w="11289665" h="95250">
                  <a:moveTo>
                    <a:pt x="1568411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1568411" y="95250"/>
                  </a:lnTo>
                  <a:lnTo>
                    <a:pt x="1568411" y="0"/>
                  </a:lnTo>
                  <a:close/>
                </a:path>
                <a:path w="11289665" h="95250">
                  <a:moveTo>
                    <a:pt x="4231119" y="0"/>
                  </a:moveTo>
                  <a:lnTo>
                    <a:pt x="1865071" y="0"/>
                  </a:lnTo>
                  <a:lnTo>
                    <a:pt x="1865071" y="95250"/>
                  </a:lnTo>
                  <a:lnTo>
                    <a:pt x="4231119" y="95250"/>
                  </a:lnTo>
                  <a:lnTo>
                    <a:pt x="4231119" y="0"/>
                  </a:lnTo>
                  <a:close/>
                </a:path>
                <a:path w="11289665" h="95250">
                  <a:moveTo>
                    <a:pt x="9230665" y="0"/>
                  </a:moveTo>
                  <a:lnTo>
                    <a:pt x="4562665" y="0"/>
                  </a:lnTo>
                  <a:lnTo>
                    <a:pt x="4562665" y="95250"/>
                  </a:lnTo>
                  <a:lnTo>
                    <a:pt x="9230665" y="95250"/>
                  </a:lnTo>
                  <a:lnTo>
                    <a:pt x="9230665" y="0"/>
                  </a:lnTo>
                  <a:close/>
                </a:path>
                <a:path w="11289665" h="95250">
                  <a:moveTo>
                    <a:pt x="11289208" y="0"/>
                  </a:moveTo>
                  <a:lnTo>
                    <a:pt x="9522079" y="0"/>
                  </a:lnTo>
                  <a:lnTo>
                    <a:pt x="9522079" y="95250"/>
                  </a:lnTo>
                  <a:lnTo>
                    <a:pt x="11289208" y="95250"/>
                  </a:lnTo>
                  <a:lnTo>
                    <a:pt x="11289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43271" y="1222318"/>
            <a:ext cx="11315065" cy="1226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850" b="0" u="none" dirty="0">
                <a:solidFill>
                  <a:srgbClr val="FFFFFF"/>
                </a:solidFill>
                <a:latin typeface="Lucida Sans Unicode"/>
                <a:cs typeface="Lucida Sans Unicode"/>
              </a:rPr>
              <a:t>Projet</a:t>
            </a:r>
            <a:r>
              <a:rPr sz="7850" b="0" u="none" spc="-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850" b="0" u="none" spc="-825" dirty="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sz="7850" b="0" u="none" spc="-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850" b="0" u="none" spc="34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Systeme</a:t>
            </a:r>
            <a:r>
              <a:rPr sz="7850" b="0" u="none" spc="-3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850" b="0" u="none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expert</a:t>
            </a:r>
            <a:endParaRPr sz="78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55965" y="3607802"/>
            <a:ext cx="9374505" cy="95250"/>
          </a:xfrm>
          <a:custGeom>
            <a:avLst/>
            <a:gdLst/>
            <a:ahLst/>
            <a:cxnLst/>
            <a:rect l="l" t="t" r="r" b="b"/>
            <a:pathLst>
              <a:path w="9374505" h="95250">
                <a:moveTo>
                  <a:pt x="6484582" y="0"/>
                </a:moveTo>
                <a:lnTo>
                  <a:pt x="0" y="0"/>
                </a:lnTo>
                <a:lnTo>
                  <a:pt x="0" y="95250"/>
                </a:lnTo>
                <a:lnTo>
                  <a:pt x="6484582" y="95250"/>
                </a:lnTo>
                <a:lnTo>
                  <a:pt x="6484582" y="0"/>
                </a:lnTo>
                <a:close/>
              </a:path>
              <a:path w="9374505" h="95250">
                <a:moveTo>
                  <a:pt x="7843228" y="0"/>
                </a:moveTo>
                <a:lnTo>
                  <a:pt x="7212292" y="0"/>
                </a:lnTo>
                <a:lnTo>
                  <a:pt x="7212292" y="95250"/>
                </a:lnTo>
                <a:lnTo>
                  <a:pt x="7843228" y="95250"/>
                </a:lnTo>
                <a:lnTo>
                  <a:pt x="7843228" y="0"/>
                </a:lnTo>
                <a:close/>
              </a:path>
              <a:path w="9374505" h="95250">
                <a:moveTo>
                  <a:pt x="9373933" y="0"/>
                </a:moveTo>
                <a:lnTo>
                  <a:pt x="8135366" y="0"/>
                </a:lnTo>
                <a:lnTo>
                  <a:pt x="8135366" y="95250"/>
                </a:lnTo>
                <a:lnTo>
                  <a:pt x="9373933" y="95250"/>
                </a:lnTo>
                <a:lnTo>
                  <a:pt x="93739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43271" y="2536768"/>
            <a:ext cx="9399905" cy="1226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850" spc="365" dirty="0">
                <a:solidFill>
                  <a:srgbClr val="FFFFFF"/>
                </a:solidFill>
                <a:latin typeface="Lucida Sans Unicode"/>
                <a:cs typeface="Lucida Sans Unicode"/>
              </a:rPr>
              <a:t>medical</a:t>
            </a:r>
            <a:r>
              <a:rPr sz="7850" spc="-3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850" spc="19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7850" spc="-3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785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logique</a:t>
            </a:r>
            <a:endParaRPr sz="7850">
              <a:latin typeface="Lucida Sans Unicode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0043" y="7764855"/>
            <a:ext cx="533399" cy="20383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42170" y="6359485"/>
            <a:ext cx="3396615" cy="19304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700" dirty="0">
                <a:latin typeface="Tahoma"/>
                <a:cs typeface="Tahoma"/>
              </a:rPr>
              <a:t>ING4</a:t>
            </a:r>
            <a:r>
              <a:rPr sz="2700" spc="-120" dirty="0">
                <a:latin typeface="Tahoma"/>
                <a:cs typeface="Tahoma"/>
              </a:rPr>
              <a:t> </a:t>
            </a:r>
            <a:r>
              <a:rPr sz="2700" spc="55" dirty="0">
                <a:latin typeface="Tahoma"/>
                <a:cs typeface="Tahoma"/>
              </a:rPr>
              <a:t>GROUPE</a:t>
            </a:r>
            <a:r>
              <a:rPr sz="2700" spc="-114" dirty="0">
                <a:latin typeface="Tahoma"/>
                <a:cs typeface="Tahoma"/>
              </a:rPr>
              <a:t> </a:t>
            </a:r>
            <a:r>
              <a:rPr sz="2700" spc="55" dirty="0">
                <a:latin typeface="Tahoma"/>
                <a:cs typeface="Tahoma"/>
              </a:rPr>
              <a:t>2</a:t>
            </a:r>
            <a:r>
              <a:rPr sz="2700" spc="-114" dirty="0">
                <a:latin typeface="Tahoma"/>
                <a:cs typeface="Tahoma"/>
              </a:rPr>
              <a:t> </a:t>
            </a:r>
            <a:r>
              <a:rPr sz="2700" spc="-470" dirty="0">
                <a:latin typeface="Tahoma"/>
                <a:cs typeface="Tahoma"/>
              </a:rPr>
              <a:t>: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</a:pPr>
            <a:r>
              <a:rPr sz="2700" dirty="0">
                <a:latin typeface="Tahoma"/>
                <a:cs typeface="Tahoma"/>
              </a:rPr>
              <a:t>ID-</a:t>
            </a:r>
            <a:r>
              <a:rPr sz="2700" spc="-125" dirty="0">
                <a:latin typeface="Tahoma"/>
                <a:cs typeface="Tahoma"/>
              </a:rPr>
              <a:t> </a:t>
            </a:r>
            <a:r>
              <a:rPr sz="2700" dirty="0">
                <a:latin typeface="Tahoma"/>
                <a:cs typeface="Tahoma"/>
              </a:rPr>
              <a:t>EL</a:t>
            </a:r>
            <a:r>
              <a:rPr sz="2700" spc="-12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OUALI</a:t>
            </a:r>
            <a:r>
              <a:rPr sz="2700" spc="-120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Kawthar </a:t>
            </a:r>
            <a:r>
              <a:rPr sz="2700" dirty="0">
                <a:latin typeface="Tahoma"/>
                <a:cs typeface="Tahoma"/>
              </a:rPr>
              <a:t>EL</a:t>
            </a:r>
            <a:r>
              <a:rPr sz="2700" spc="-135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BAKKALI</a:t>
            </a:r>
            <a:r>
              <a:rPr sz="2700" spc="-135" dirty="0">
                <a:latin typeface="Tahoma"/>
                <a:cs typeface="Tahoma"/>
              </a:rPr>
              <a:t> </a:t>
            </a:r>
            <a:r>
              <a:rPr sz="2700" spc="40" dirty="0">
                <a:latin typeface="Tahoma"/>
                <a:cs typeface="Tahoma"/>
              </a:rPr>
              <a:t>Badr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700" dirty="0">
                <a:latin typeface="Tahoma"/>
                <a:cs typeface="Tahoma"/>
              </a:rPr>
              <a:t>EL</a:t>
            </a:r>
            <a:r>
              <a:rPr sz="2700" spc="-105" dirty="0">
                <a:latin typeface="Tahoma"/>
                <a:cs typeface="Tahoma"/>
              </a:rPr>
              <a:t> </a:t>
            </a:r>
            <a:r>
              <a:rPr sz="2700" spc="-20" dirty="0">
                <a:latin typeface="Tahoma"/>
                <a:cs typeface="Tahoma"/>
              </a:rPr>
              <a:t>YOUSOUFI</a:t>
            </a:r>
            <a:r>
              <a:rPr sz="2700" spc="-100" dirty="0">
                <a:latin typeface="Tahoma"/>
                <a:cs typeface="Tahoma"/>
              </a:rPr>
              <a:t> </a:t>
            </a:r>
            <a:r>
              <a:rPr sz="2700" spc="-10" dirty="0">
                <a:latin typeface="Tahoma"/>
                <a:cs typeface="Tahoma"/>
              </a:rPr>
              <a:t>Zakaria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83586" y="8366073"/>
            <a:ext cx="362585" cy="1921510"/>
          </a:xfrm>
          <a:custGeom>
            <a:avLst/>
            <a:gdLst/>
            <a:ahLst/>
            <a:cxnLst/>
            <a:rect l="l" t="t" r="r" b="b"/>
            <a:pathLst>
              <a:path w="362584" h="1921509">
                <a:moveTo>
                  <a:pt x="15368" y="0"/>
                </a:moveTo>
                <a:lnTo>
                  <a:pt x="15321" y="552"/>
                </a:lnTo>
              </a:path>
              <a:path w="362584" h="1921509">
                <a:moveTo>
                  <a:pt x="1310" y="239561"/>
                </a:moveTo>
                <a:lnTo>
                  <a:pt x="1261" y="241852"/>
                </a:lnTo>
                <a:lnTo>
                  <a:pt x="358" y="287957"/>
                </a:lnTo>
                <a:lnTo>
                  <a:pt x="319" y="292651"/>
                </a:lnTo>
                <a:lnTo>
                  <a:pt x="0" y="336506"/>
                </a:lnTo>
                <a:lnTo>
                  <a:pt x="38" y="343450"/>
                </a:lnTo>
                <a:lnTo>
                  <a:pt x="225" y="385056"/>
                </a:lnTo>
                <a:lnTo>
                  <a:pt x="1215" y="433454"/>
                </a:lnTo>
                <a:lnTo>
                  <a:pt x="2732" y="481698"/>
                </a:lnTo>
                <a:lnTo>
                  <a:pt x="4993" y="529776"/>
                </a:lnTo>
                <a:lnTo>
                  <a:pt x="7814" y="577694"/>
                </a:lnTo>
                <a:lnTo>
                  <a:pt x="11251" y="625442"/>
                </a:lnTo>
                <a:lnTo>
                  <a:pt x="15235" y="673026"/>
                </a:lnTo>
                <a:lnTo>
                  <a:pt x="19958" y="720420"/>
                </a:lnTo>
                <a:lnTo>
                  <a:pt x="25220" y="767641"/>
                </a:lnTo>
                <a:lnTo>
                  <a:pt x="31083" y="814678"/>
                </a:lnTo>
                <a:lnTo>
                  <a:pt x="37542" y="861527"/>
                </a:lnTo>
                <a:lnTo>
                  <a:pt x="44593" y="908185"/>
                </a:lnTo>
                <a:lnTo>
                  <a:pt x="52233" y="954647"/>
                </a:lnTo>
                <a:lnTo>
                  <a:pt x="60458" y="1000909"/>
                </a:lnTo>
                <a:lnTo>
                  <a:pt x="69264" y="1046968"/>
                </a:lnTo>
                <a:lnTo>
                  <a:pt x="78646" y="1092819"/>
                </a:lnTo>
                <a:lnTo>
                  <a:pt x="88602" y="1138459"/>
                </a:lnTo>
                <a:lnTo>
                  <a:pt x="99126" y="1183884"/>
                </a:lnTo>
                <a:lnTo>
                  <a:pt x="110215" y="1229089"/>
                </a:lnTo>
                <a:lnTo>
                  <a:pt x="121866" y="1274072"/>
                </a:lnTo>
                <a:lnTo>
                  <a:pt x="134073" y="1318827"/>
                </a:lnTo>
                <a:lnTo>
                  <a:pt x="146834" y="1363351"/>
                </a:lnTo>
                <a:lnTo>
                  <a:pt x="160145" y="1407640"/>
                </a:lnTo>
                <a:lnTo>
                  <a:pt x="174000" y="1451691"/>
                </a:lnTo>
                <a:lnTo>
                  <a:pt x="188397" y="1495498"/>
                </a:lnTo>
                <a:lnTo>
                  <a:pt x="203332" y="1539059"/>
                </a:lnTo>
                <a:lnTo>
                  <a:pt x="218800" y="1582369"/>
                </a:lnTo>
                <a:lnTo>
                  <a:pt x="234798" y="1625425"/>
                </a:lnTo>
                <a:lnTo>
                  <a:pt x="251322" y="1668222"/>
                </a:lnTo>
                <a:lnTo>
                  <a:pt x="268367" y="1710756"/>
                </a:lnTo>
                <a:lnTo>
                  <a:pt x="285883" y="1753047"/>
                </a:lnTo>
                <a:lnTo>
                  <a:pt x="304008" y="1795022"/>
                </a:lnTo>
                <a:lnTo>
                  <a:pt x="322596" y="1836746"/>
                </a:lnTo>
                <a:lnTo>
                  <a:pt x="341689" y="1878191"/>
                </a:lnTo>
                <a:lnTo>
                  <a:pt x="361285" y="1919355"/>
                </a:lnTo>
                <a:lnTo>
                  <a:pt x="362057" y="1920926"/>
                </a:lnTo>
              </a:path>
            </a:pathLst>
          </a:custGeom>
          <a:ln w="1904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155" y="7963075"/>
            <a:ext cx="380999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6602" y="2575281"/>
            <a:ext cx="380999" cy="14763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93439" y="1408522"/>
            <a:ext cx="5689600" cy="76200"/>
          </a:xfrm>
          <a:custGeom>
            <a:avLst/>
            <a:gdLst/>
            <a:ahLst/>
            <a:cxnLst/>
            <a:rect l="l" t="t" r="r" b="b"/>
            <a:pathLst>
              <a:path w="5689600" h="76200">
                <a:moveTo>
                  <a:pt x="5689440" y="76199"/>
                </a:moveTo>
                <a:lnTo>
                  <a:pt x="0" y="76199"/>
                </a:lnTo>
                <a:lnTo>
                  <a:pt x="0" y="0"/>
                </a:lnTo>
                <a:lnTo>
                  <a:pt x="5689440" y="0"/>
                </a:lnTo>
                <a:lnTo>
                  <a:pt x="5689440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0444" y="1408522"/>
            <a:ext cx="3243580" cy="76200"/>
          </a:xfrm>
          <a:custGeom>
            <a:avLst/>
            <a:gdLst/>
            <a:ahLst/>
            <a:cxnLst/>
            <a:rect l="l" t="t" r="r" b="b"/>
            <a:pathLst>
              <a:path w="3243579" h="76200">
                <a:moveTo>
                  <a:pt x="3243364" y="76199"/>
                </a:moveTo>
                <a:lnTo>
                  <a:pt x="0" y="76199"/>
                </a:lnTo>
                <a:lnTo>
                  <a:pt x="0" y="0"/>
                </a:lnTo>
                <a:lnTo>
                  <a:pt x="3243364" y="0"/>
                </a:lnTo>
                <a:lnTo>
                  <a:pt x="3243364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80739" y="584579"/>
            <a:ext cx="9185910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55" dirty="0">
                <a:solidFill>
                  <a:srgbClr val="000000"/>
                </a:solidFill>
                <a:latin typeface="Lucida Sans Unicode"/>
                <a:cs typeface="Lucida Sans Unicode"/>
              </a:rPr>
              <a:t>Contexte</a:t>
            </a:r>
            <a:r>
              <a:rPr sz="6000" b="0" u="none" spc="-17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45" dirty="0">
                <a:solidFill>
                  <a:srgbClr val="000000"/>
                </a:solidFill>
                <a:latin typeface="Lucida Sans Unicode"/>
                <a:cs typeface="Lucida Sans Unicode"/>
              </a:rPr>
              <a:t>et</a:t>
            </a:r>
            <a:r>
              <a:rPr sz="6000" b="0" u="none" spc="-17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dirty="0">
                <a:solidFill>
                  <a:srgbClr val="000000"/>
                </a:solidFill>
                <a:latin typeface="Lucida Sans Unicode"/>
                <a:cs typeface="Lucida Sans Unicode"/>
              </a:rPr>
              <a:t>Objectifs</a:t>
            </a:r>
            <a:r>
              <a:rPr sz="6000" b="0" u="none" spc="-17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60" dirty="0">
                <a:solidFill>
                  <a:srgbClr val="000000"/>
                </a:solidFill>
                <a:latin typeface="Lucida Sans Unicode"/>
                <a:cs typeface="Lucida Sans Unicode"/>
              </a:rPr>
              <a:t>du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3439" y="2408647"/>
            <a:ext cx="1195070" cy="76200"/>
          </a:xfrm>
          <a:custGeom>
            <a:avLst/>
            <a:gdLst/>
            <a:ahLst/>
            <a:cxnLst/>
            <a:rect l="l" t="t" r="r" b="b"/>
            <a:pathLst>
              <a:path w="1195070" h="76200">
                <a:moveTo>
                  <a:pt x="1194781" y="76199"/>
                </a:moveTo>
                <a:lnTo>
                  <a:pt x="0" y="76199"/>
                </a:lnTo>
                <a:lnTo>
                  <a:pt x="0" y="0"/>
                </a:lnTo>
                <a:lnTo>
                  <a:pt x="1194781" y="0"/>
                </a:lnTo>
                <a:lnTo>
                  <a:pt x="1194781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5785" y="2408647"/>
            <a:ext cx="734060" cy="76200"/>
          </a:xfrm>
          <a:custGeom>
            <a:avLst/>
            <a:gdLst/>
            <a:ahLst/>
            <a:cxnLst/>
            <a:rect l="l" t="t" r="r" b="b"/>
            <a:pathLst>
              <a:path w="734060" h="76200">
                <a:moveTo>
                  <a:pt x="733875" y="76199"/>
                </a:moveTo>
                <a:lnTo>
                  <a:pt x="0" y="76199"/>
                </a:lnTo>
                <a:lnTo>
                  <a:pt x="0" y="0"/>
                </a:lnTo>
                <a:lnTo>
                  <a:pt x="733875" y="0"/>
                </a:lnTo>
                <a:lnTo>
                  <a:pt x="733875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80739" y="1584704"/>
            <a:ext cx="2181860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-10" dirty="0">
                <a:latin typeface="Lucida Sans Unicode"/>
                <a:cs typeface="Lucida Sans Unicode"/>
              </a:rPr>
              <a:t>Projet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4495626"/>
            <a:ext cx="10699115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latin typeface="Lucida Sans Unicode"/>
                <a:cs typeface="Lucida Sans Unicode"/>
              </a:rPr>
              <a:t>Ce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50" dirty="0">
                <a:latin typeface="Lucida Sans Unicode"/>
                <a:cs typeface="Lucida Sans Unicode"/>
              </a:rPr>
              <a:t>projet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60" dirty="0">
                <a:latin typeface="Lucida Sans Unicode"/>
                <a:cs typeface="Lucida Sans Unicode"/>
              </a:rPr>
              <a:t>vise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à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concevoir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système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médical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simulant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30" dirty="0">
                <a:latin typeface="Lucida Sans Unicode"/>
                <a:cs typeface="Lucida Sans Unicode"/>
              </a:rPr>
              <a:t>raisonnement</a:t>
            </a:r>
            <a:r>
              <a:rPr sz="2000" spc="-95" dirty="0">
                <a:latin typeface="Lucida Sans Unicode"/>
                <a:cs typeface="Lucida Sans Unicode"/>
              </a:rPr>
              <a:t> </a:t>
            </a:r>
            <a:r>
              <a:rPr sz="2000" spc="-55" dirty="0">
                <a:latin typeface="Lucida Sans Unicode"/>
                <a:cs typeface="Lucida Sans Unicode"/>
              </a:rPr>
              <a:t>clinique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simplifié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000" dirty="0">
                <a:latin typeface="Lucida Sans Unicode"/>
                <a:cs typeface="Lucida Sans Unicode"/>
              </a:rPr>
              <a:t>à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30" dirty="0">
                <a:latin typeface="Lucida Sans Unicode"/>
                <a:cs typeface="Lucida Sans Unicode"/>
              </a:rPr>
              <a:t>partir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20" dirty="0">
                <a:latin typeface="Lucida Sans Unicode"/>
                <a:cs typeface="Lucida Sans Unicode"/>
              </a:rPr>
              <a:t>de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50" dirty="0">
                <a:latin typeface="Lucida Sans Unicode"/>
                <a:cs typeface="Lucida Sans Unicode"/>
              </a:rPr>
              <a:t>symptômes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fournis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par</a:t>
            </a:r>
            <a:r>
              <a:rPr sz="2000" spc="-1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14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utilisateur.</a:t>
            </a:r>
            <a:endParaRPr sz="2000">
              <a:latin typeface="Lucida Sans Unicode"/>
              <a:cs typeface="Lucida Sans Unicode"/>
            </a:endParaRPr>
          </a:p>
          <a:p>
            <a:pPr marL="12700" marR="1464310">
              <a:lnSpc>
                <a:spcPct val="165600"/>
              </a:lnSpc>
            </a:pPr>
            <a:r>
              <a:rPr sz="2000" spc="-55" dirty="0">
                <a:latin typeface="Lucida Sans Unicode"/>
                <a:cs typeface="Lucida Sans Unicode"/>
              </a:rPr>
              <a:t>Il</a:t>
            </a:r>
            <a:r>
              <a:rPr sz="2000" spc="-110" dirty="0">
                <a:latin typeface="Lucida Sans Unicode"/>
                <a:cs typeface="Lucida Sans Unicode"/>
              </a:rPr>
              <a:t> </a:t>
            </a:r>
            <a:r>
              <a:rPr sz="2000" spc="-40" dirty="0">
                <a:latin typeface="Lucida Sans Unicode"/>
                <a:cs typeface="Lucida Sans Unicode"/>
              </a:rPr>
              <a:t>propose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50" dirty="0">
                <a:latin typeface="Lucida Sans Unicode"/>
                <a:cs typeface="Lucida Sans Unicode"/>
              </a:rPr>
              <a:t>des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70" dirty="0">
                <a:latin typeface="Lucida Sans Unicode"/>
                <a:cs typeface="Lucida Sans Unicode"/>
              </a:rPr>
              <a:t>diagnostics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55" dirty="0">
                <a:latin typeface="Lucida Sans Unicode"/>
                <a:cs typeface="Lucida Sans Unicode"/>
              </a:rPr>
              <a:t>plausibles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avec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40" dirty="0">
                <a:latin typeface="Lucida Sans Unicode"/>
                <a:cs typeface="Lucida Sans Unicode"/>
              </a:rPr>
              <a:t>score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20" dirty="0">
                <a:latin typeface="Lucida Sans Unicode"/>
                <a:cs typeface="Lucida Sans Unicode"/>
              </a:rPr>
              <a:t>de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confiance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et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70" dirty="0">
                <a:latin typeface="Lucida Sans Unicode"/>
                <a:cs typeface="Lucida Sans Unicode"/>
              </a:rPr>
              <a:t>explique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le </a:t>
            </a:r>
            <a:r>
              <a:rPr sz="2000" spc="-30" dirty="0">
                <a:latin typeface="Lucida Sans Unicode"/>
                <a:cs typeface="Lucida Sans Unicode"/>
              </a:rPr>
              <a:t>raisonnement</a:t>
            </a:r>
            <a:r>
              <a:rPr sz="2000" spc="-7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suivi.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000" spc="-114" dirty="0">
                <a:latin typeface="Lucida Sans Unicode"/>
                <a:cs typeface="Lucida Sans Unicode"/>
              </a:rPr>
              <a:t>C’est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40" dirty="0">
                <a:latin typeface="Lucida Sans Unicode"/>
                <a:cs typeface="Lucida Sans Unicode"/>
              </a:rPr>
              <a:t>prototype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65" dirty="0">
                <a:latin typeface="Lucida Sans Unicode"/>
                <a:cs typeface="Lucida Sans Unicode"/>
              </a:rPr>
              <a:t>pedagogique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non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50" dirty="0">
                <a:latin typeface="Lucida Sans Unicode"/>
                <a:cs typeface="Lucida Sans Unicode"/>
              </a:rPr>
              <a:t>destine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un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65" dirty="0">
                <a:latin typeface="Lucida Sans Unicode"/>
                <a:cs typeface="Lucida Sans Unicode"/>
              </a:rPr>
              <a:t>usage</a:t>
            </a:r>
            <a:r>
              <a:rPr sz="2000" spc="-100" dirty="0">
                <a:latin typeface="Lucida Sans Unicode"/>
                <a:cs typeface="Lucida Sans Unicode"/>
              </a:rPr>
              <a:t> </a:t>
            </a:r>
            <a:r>
              <a:rPr sz="2000" spc="-45" dirty="0">
                <a:latin typeface="Lucida Sans Unicode"/>
                <a:cs typeface="Lucida Sans Unicode"/>
              </a:rPr>
              <a:t>medical</a:t>
            </a:r>
            <a:r>
              <a:rPr sz="2000" spc="-10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reel.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109" y="654245"/>
            <a:ext cx="742949" cy="7524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9265" y="8335861"/>
            <a:ext cx="380999" cy="1476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645" y="2616446"/>
            <a:ext cx="380999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8240" y="2759293"/>
            <a:ext cx="7991474" cy="70484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74375" y="2050416"/>
            <a:ext cx="4861560" cy="76200"/>
          </a:xfrm>
          <a:custGeom>
            <a:avLst/>
            <a:gdLst/>
            <a:ahLst/>
            <a:cxnLst/>
            <a:rect l="l" t="t" r="r" b="b"/>
            <a:pathLst>
              <a:path w="4861560" h="76200">
                <a:moveTo>
                  <a:pt x="4861139" y="76199"/>
                </a:moveTo>
                <a:lnTo>
                  <a:pt x="0" y="76199"/>
                </a:lnTo>
                <a:lnTo>
                  <a:pt x="0" y="0"/>
                </a:lnTo>
                <a:lnTo>
                  <a:pt x="4861139" y="0"/>
                </a:lnTo>
                <a:lnTo>
                  <a:pt x="4861139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90571" y="2050416"/>
            <a:ext cx="4742180" cy="76200"/>
          </a:xfrm>
          <a:custGeom>
            <a:avLst/>
            <a:gdLst/>
            <a:ahLst/>
            <a:cxnLst/>
            <a:rect l="l" t="t" r="r" b="b"/>
            <a:pathLst>
              <a:path w="4742180" h="76200">
                <a:moveTo>
                  <a:pt x="4741745" y="76199"/>
                </a:moveTo>
                <a:lnTo>
                  <a:pt x="0" y="76199"/>
                </a:lnTo>
                <a:lnTo>
                  <a:pt x="0" y="0"/>
                </a:lnTo>
                <a:lnTo>
                  <a:pt x="4741745" y="0"/>
                </a:lnTo>
                <a:lnTo>
                  <a:pt x="4741745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84276" y="2050416"/>
            <a:ext cx="2536825" cy="76200"/>
          </a:xfrm>
          <a:custGeom>
            <a:avLst/>
            <a:gdLst/>
            <a:ahLst/>
            <a:cxnLst/>
            <a:rect l="l" t="t" r="r" b="b"/>
            <a:pathLst>
              <a:path w="2536825" h="76200">
                <a:moveTo>
                  <a:pt x="2536656" y="76199"/>
                </a:moveTo>
                <a:lnTo>
                  <a:pt x="0" y="76199"/>
                </a:lnTo>
                <a:lnTo>
                  <a:pt x="0" y="0"/>
                </a:lnTo>
                <a:lnTo>
                  <a:pt x="2536656" y="0"/>
                </a:lnTo>
                <a:lnTo>
                  <a:pt x="2536656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61675" y="1226471"/>
            <a:ext cx="12972415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85" dirty="0">
                <a:solidFill>
                  <a:srgbClr val="000000"/>
                </a:solidFill>
                <a:latin typeface="Lucida Sans Unicode"/>
                <a:cs typeface="Lucida Sans Unicode"/>
              </a:rPr>
              <a:t>Architecture</a:t>
            </a:r>
            <a:r>
              <a:rPr sz="6000" b="0" u="none" spc="-28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215" dirty="0">
                <a:solidFill>
                  <a:srgbClr val="000000"/>
                </a:solidFill>
                <a:latin typeface="Lucida Sans Unicode"/>
                <a:cs typeface="Lucida Sans Unicode"/>
              </a:rPr>
              <a:t>générale</a:t>
            </a:r>
            <a:r>
              <a:rPr sz="6000" b="0" u="none" spc="-28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85" dirty="0">
                <a:solidFill>
                  <a:srgbClr val="000000"/>
                </a:solidFill>
                <a:latin typeface="Lucida Sans Unicode"/>
                <a:cs typeface="Lucida Sans Unicode"/>
              </a:rPr>
              <a:t>du</a:t>
            </a:r>
            <a:r>
              <a:rPr sz="6000" b="0" u="none" spc="-28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204" dirty="0">
                <a:solidFill>
                  <a:srgbClr val="000000"/>
                </a:solidFill>
                <a:latin typeface="Lucida Sans Unicode"/>
                <a:cs typeface="Lucida Sans Unicode"/>
              </a:rPr>
              <a:t>système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0632" y="7785892"/>
            <a:ext cx="3505200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29" dirty="0">
                <a:latin typeface="Arial Black"/>
                <a:cs typeface="Arial Black"/>
              </a:rPr>
              <a:t>Base</a:t>
            </a:r>
            <a:r>
              <a:rPr sz="2400" spc="-165" dirty="0">
                <a:latin typeface="Arial Black"/>
                <a:cs typeface="Arial Black"/>
              </a:rPr>
              <a:t> </a:t>
            </a:r>
            <a:r>
              <a:rPr sz="2400" spc="-155" dirty="0">
                <a:latin typeface="Arial Black"/>
                <a:cs typeface="Arial Black"/>
              </a:rPr>
              <a:t>de</a:t>
            </a:r>
            <a:r>
              <a:rPr sz="2400" spc="-165" dirty="0">
                <a:latin typeface="Arial Black"/>
                <a:cs typeface="Arial Black"/>
              </a:rPr>
              <a:t> </a:t>
            </a:r>
            <a:r>
              <a:rPr sz="2400" spc="-175" dirty="0">
                <a:latin typeface="Arial Black"/>
                <a:cs typeface="Arial Black"/>
              </a:rPr>
              <a:t>Connaissances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67344" y="7785892"/>
            <a:ext cx="3116580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35" dirty="0">
                <a:latin typeface="Arial Black"/>
                <a:cs typeface="Arial Black"/>
              </a:rPr>
              <a:t>Interface</a:t>
            </a:r>
            <a:r>
              <a:rPr sz="2400" spc="-145" dirty="0">
                <a:latin typeface="Arial Black"/>
                <a:cs typeface="Arial Black"/>
              </a:rPr>
              <a:t> </a:t>
            </a:r>
            <a:r>
              <a:rPr sz="2400" spc="-90" dirty="0">
                <a:latin typeface="Arial Black"/>
                <a:cs typeface="Arial Black"/>
              </a:rPr>
              <a:t>Utilisateur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9129" y="8501340"/>
            <a:ext cx="3027680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5315" marR="5080" indent="-603250">
              <a:lnSpc>
                <a:spcPct val="117200"/>
              </a:lnSpc>
              <a:spcBef>
                <a:spcPts val="95"/>
              </a:spcBef>
            </a:pPr>
            <a:r>
              <a:rPr sz="2250" dirty="0">
                <a:latin typeface="Tahoma"/>
                <a:cs typeface="Tahoma"/>
              </a:rPr>
              <a:t>Référentiel</a:t>
            </a:r>
            <a:r>
              <a:rPr sz="2250" spc="114" dirty="0">
                <a:latin typeface="Tahoma"/>
                <a:cs typeface="Tahoma"/>
              </a:rPr>
              <a:t> </a:t>
            </a:r>
            <a:r>
              <a:rPr sz="2250" spc="80" dirty="0">
                <a:latin typeface="Tahoma"/>
                <a:cs typeface="Tahoma"/>
              </a:rPr>
              <a:t>central</a:t>
            </a:r>
            <a:r>
              <a:rPr sz="2250" spc="114" dirty="0">
                <a:latin typeface="Tahoma"/>
                <a:cs typeface="Tahoma"/>
              </a:rPr>
              <a:t> des </a:t>
            </a:r>
            <a:r>
              <a:rPr sz="2250" spc="65" dirty="0">
                <a:latin typeface="Tahoma"/>
                <a:cs typeface="Tahoma"/>
              </a:rPr>
              <a:t>faits</a:t>
            </a:r>
            <a:r>
              <a:rPr sz="2250" spc="-95" dirty="0">
                <a:latin typeface="Tahoma"/>
                <a:cs typeface="Tahoma"/>
              </a:rPr>
              <a:t> </a:t>
            </a:r>
            <a:r>
              <a:rPr sz="2250" spc="95" dirty="0">
                <a:latin typeface="Tahoma"/>
                <a:cs typeface="Tahoma"/>
              </a:rPr>
              <a:t>et</a:t>
            </a:r>
            <a:r>
              <a:rPr sz="2250" spc="-95" dirty="0">
                <a:latin typeface="Tahoma"/>
                <a:cs typeface="Tahoma"/>
              </a:rPr>
              <a:t> </a:t>
            </a:r>
            <a:r>
              <a:rPr sz="2250" spc="-10" dirty="0">
                <a:latin typeface="Tahoma"/>
                <a:cs typeface="Tahoma"/>
              </a:rPr>
              <a:t>règles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89411" y="8501340"/>
            <a:ext cx="3602354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6625" marR="5080" indent="-924560">
              <a:lnSpc>
                <a:spcPct val="117200"/>
              </a:lnSpc>
              <a:spcBef>
                <a:spcPts val="95"/>
              </a:spcBef>
            </a:pPr>
            <a:r>
              <a:rPr sz="2250" spc="45" dirty="0">
                <a:latin typeface="Tahoma"/>
                <a:cs typeface="Tahoma"/>
              </a:rPr>
              <a:t>Interaction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95" dirty="0">
                <a:latin typeface="Tahoma"/>
                <a:cs typeface="Tahoma"/>
              </a:rPr>
              <a:t>et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70" dirty="0">
                <a:latin typeface="Tahoma"/>
                <a:cs typeface="Tahoma"/>
              </a:rPr>
              <a:t>présentation </a:t>
            </a:r>
            <a:r>
              <a:rPr sz="2250" spc="140" dirty="0">
                <a:latin typeface="Tahoma"/>
                <a:cs typeface="Tahoma"/>
              </a:rPr>
              <a:t>des</a:t>
            </a:r>
            <a:r>
              <a:rPr sz="2250" spc="-100" dirty="0">
                <a:latin typeface="Tahoma"/>
                <a:cs typeface="Tahoma"/>
              </a:rPr>
              <a:t> </a:t>
            </a:r>
            <a:r>
              <a:rPr sz="2250" spc="60" dirty="0">
                <a:latin typeface="Tahoma"/>
                <a:cs typeface="Tahoma"/>
              </a:rPr>
              <a:t>résultats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4354" y="2423893"/>
            <a:ext cx="13987780" cy="192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latin typeface="Tahoma"/>
                <a:cs typeface="Tahoma"/>
              </a:rPr>
              <a:t>Le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70" dirty="0">
                <a:latin typeface="Tahoma"/>
                <a:cs typeface="Tahoma"/>
              </a:rPr>
              <a:t>système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75" dirty="0">
                <a:latin typeface="Tahoma"/>
                <a:cs typeface="Tahoma"/>
              </a:rPr>
              <a:t>est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structuré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en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trois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parties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clairement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séparées,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45" dirty="0">
                <a:latin typeface="Tahoma"/>
                <a:cs typeface="Tahoma"/>
              </a:rPr>
              <a:t>assurant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une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45" dirty="0">
                <a:latin typeface="Tahoma"/>
                <a:cs typeface="Tahoma"/>
              </a:rPr>
              <a:t>modularité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70" dirty="0">
                <a:latin typeface="Tahoma"/>
                <a:cs typeface="Tahoma"/>
              </a:rPr>
              <a:t>et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une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maintenabilité</a:t>
            </a:r>
            <a:r>
              <a:rPr sz="2000" spc="-10" dirty="0">
                <a:latin typeface="Tahoma"/>
                <a:cs typeface="Tahoma"/>
              </a:rPr>
              <a:t> optimales.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000">
              <a:latin typeface="Tahoma"/>
              <a:cs typeface="Tahoma"/>
            </a:endParaRPr>
          </a:p>
          <a:p>
            <a:pPr marL="482600" algn="ctr">
              <a:lnSpc>
                <a:spcPct val="100000"/>
              </a:lnSpc>
              <a:spcBef>
                <a:spcPts val="5"/>
              </a:spcBef>
            </a:pPr>
            <a:r>
              <a:rPr sz="2400" spc="-75" dirty="0">
                <a:latin typeface="Arial Black"/>
                <a:cs typeface="Arial Black"/>
              </a:rPr>
              <a:t>Moteur</a:t>
            </a:r>
            <a:r>
              <a:rPr sz="2400" spc="-145" dirty="0">
                <a:latin typeface="Arial Black"/>
                <a:cs typeface="Arial Black"/>
              </a:rPr>
              <a:t> </a:t>
            </a:r>
            <a:r>
              <a:rPr sz="2400" spc="-30" dirty="0">
                <a:latin typeface="Arial Black"/>
                <a:cs typeface="Arial Black"/>
              </a:rPr>
              <a:t>d'Inférence</a:t>
            </a:r>
            <a:endParaRPr sz="2400">
              <a:latin typeface="Arial Black"/>
              <a:cs typeface="Arial Black"/>
            </a:endParaRPr>
          </a:p>
          <a:p>
            <a:pPr marL="4756785">
              <a:lnSpc>
                <a:spcPct val="100000"/>
              </a:lnSpc>
              <a:spcBef>
                <a:spcPts val="505"/>
              </a:spcBef>
            </a:pPr>
            <a:r>
              <a:rPr sz="2250" spc="70" dirty="0">
                <a:latin typeface="Tahoma"/>
                <a:cs typeface="Tahoma"/>
              </a:rPr>
              <a:t>Raisonnement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95" dirty="0">
                <a:latin typeface="Tahoma"/>
                <a:cs typeface="Tahoma"/>
              </a:rPr>
              <a:t>et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90" dirty="0">
                <a:latin typeface="Tahoma"/>
                <a:cs typeface="Tahoma"/>
              </a:rPr>
              <a:t>application</a:t>
            </a:r>
            <a:r>
              <a:rPr sz="2250" spc="-85" dirty="0">
                <a:latin typeface="Tahoma"/>
                <a:cs typeface="Tahoma"/>
              </a:rPr>
              <a:t> </a:t>
            </a:r>
            <a:r>
              <a:rPr sz="2250" spc="140" dirty="0">
                <a:latin typeface="Tahoma"/>
                <a:cs typeface="Tahoma"/>
              </a:rPr>
              <a:t>des</a:t>
            </a:r>
            <a:r>
              <a:rPr sz="2250" spc="-90" dirty="0">
                <a:latin typeface="Tahoma"/>
                <a:cs typeface="Tahoma"/>
              </a:rPr>
              <a:t> </a:t>
            </a:r>
            <a:r>
              <a:rPr sz="2250" spc="-10" dirty="0">
                <a:latin typeface="Tahoma"/>
                <a:cs typeface="Tahoma"/>
              </a:rPr>
              <a:t>règles</a:t>
            </a:r>
            <a:endParaRPr sz="225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998" y="571607"/>
            <a:ext cx="742949" cy="752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066" y="959033"/>
            <a:ext cx="9530715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-1275" dirty="0">
                <a:solidFill>
                  <a:srgbClr val="000000"/>
                </a:solidFill>
                <a:latin typeface="Lucida Sans Unicode"/>
                <a:cs typeface="Lucida Sans Unicode"/>
              </a:rPr>
              <a:t>1.</a:t>
            </a:r>
            <a:r>
              <a:rPr sz="6000" b="0" u="none" spc="-130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335" dirty="0">
                <a:solidFill>
                  <a:srgbClr val="000000"/>
                </a:solidFill>
                <a:latin typeface="Lucida Sans Unicode"/>
                <a:cs typeface="Lucida Sans Unicode"/>
              </a:rPr>
              <a:t>Base</a:t>
            </a:r>
            <a:r>
              <a:rPr sz="6000" b="0" u="none" spc="-28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310" dirty="0">
                <a:solidFill>
                  <a:srgbClr val="000000"/>
                </a:solidFill>
                <a:latin typeface="Lucida Sans Unicode"/>
                <a:cs typeface="Lucida Sans Unicode"/>
              </a:rPr>
              <a:t>de</a:t>
            </a:r>
            <a:r>
              <a:rPr sz="6000" b="0" u="none" spc="-29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240" dirty="0">
                <a:solidFill>
                  <a:srgbClr val="000000"/>
                </a:solidFill>
                <a:latin typeface="Lucida Sans Unicode"/>
                <a:cs typeface="Lucida Sans Unicode"/>
              </a:rPr>
              <a:t>connaissances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26927" y="2783102"/>
            <a:ext cx="4003040" cy="76200"/>
          </a:xfrm>
          <a:custGeom>
            <a:avLst/>
            <a:gdLst/>
            <a:ahLst/>
            <a:cxnLst/>
            <a:rect l="l" t="t" r="r" b="b"/>
            <a:pathLst>
              <a:path w="4003040" h="76200">
                <a:moveTo>
                  <a:pt x="4003029" y="76199"/>
                </a:moveTo>
                <a:lnTo>
                  <a:pt x="0" y="76199"/>
                </a:lnTo>
                <a:lnTo>
                  <a:pt x="0" y="0"/>
                </a:lnTo>
                <a:lnTo>
                  <a:pt x="4003029" y="0"/>
                </a:lnTo>
                <a:lnTo>
                  <a:pt x="4003029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4227" y="1959158"/>
            <a:ext cx="4028440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250" dirty="0">
                <a:latin typeface="Lucida Sans Unicode"/>
                <a:cs typeface="Lucida Sans Unicode"/>
              </a:rPr>
              <a:t>medicales</a:t>
            </a:r>
            <a:endParaRPr sz="60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8887" y="4133467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8887" y="4638292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8887" y="5143117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8887" y="5647942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8887" y="6152767"/>
            <a:ext cx="85725" cy="857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Symptomes</a:t>
            </a:r>
            <a:r>
              <a:rPr spc="-110" dirty="0"/>
              <a:t> </a:t>
            </a:r>
            <a:r>
              <a:rPr spc="70" dirty="0"/>
              <a:t>Categorises</a:t>
            </a:r>
          </a:p>
          <a:p>
            <a:pPr marL="443865" marR="2317115" indent="-431800">
              <a:lnSpc>
                <a:spcPct val="165600"/>
              </a:lnSpc>
              <a:spcBef>
                <a:spcPts val="585"/>
              </a:spcBef>
            </a:pPr>
            <a:r>
              <a:rPr sz="2000" spc="-25" dirty="0"/>
              <a:t>Organisées</a:t>
            </a:r>
            <a:r>
              <a:rPr sz="2000" spc="-95" dirty="0"/>
              <a:t> </a:t>
            </a:r>
            <a:r>
              <a:rPr sz="2000" dirty="0"/>
              <a:t>par</a:t>
            </a:r>
            <a:r>
              <a:rPr sz="2000" spc="-90" dirty="0"/>
              <a:t> </a:t>
            </a:r>
            <a:r>
              <a:rPr sz="2000" dirty="0"/>
              <a:t>spécialité</a:t>
            </a:r>
            <a:r>
              <a:rPr sz="2000" spc="-90" dirty="0"/>
              <a:t> </a:t>
            </a:r>
            <a:r>
              <a:rPr sz="2000" spc="-50" dirty="0"/>
              <a:t>: </a:t>
            </a:r>
            <a:r>
              <a:rPr sz="2000" spc="-10" dirty="0"/>
              <a:t>Respoiratoire/ORL Digestif</a:t>
            </a:r>
            <a:endParaRPr sz="2000"/>
          </a:p>
          <a:p>
            <a:pPr marL="443865" marR="2435225">
              <a:lnSpc>
                <a:spcPct val="165600"/>
              </a:lnSpc>
            </a:pPr>
            <a:r>
              <a:rPr sz="2000" spc="-10" dirty="0"/>
              <a:t>Urinaire Neurologique Douleurs</a:t>
            </a:r>
            <a:r>
              <a:rPr sz="2000" spc="-110" dirty="0"/>
              <a:t> </a:t>
            </a:r>
            <a:r>
              <a:rPr sz="2000" spc="-10" dirty="0"/>
              <a:t>musculaires</a:t>
            </a:r>
            <a:endParaRPr sz="2000"/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000"/>
          </a:p>
          <a:p>
            <a:pPr marL="295275">
              <a:lnSpc>
                <a:spcPct val="100000"/>
              </a:lnSpc>
              <a:spcBef>
                <a:spcPts val="5"/>
              </a:spcBef>
            </a:pPr>
            <a:r>
              <a:rPr spc="85" dirty="0"/>
              <a:t>Confiance</a:t>
            </a:r>
            <a:r>
              <a:rPr spc="-114" dirty="0"/>
              <a:t> </a:t>
            </a:r>
            <a:r>
              <a:rPr spc="55" dirty="0"/>
              <a:t>et</a:t>
            </a:r>
            <a:r>
              <a:rPr spc="-110" dirty="0"/>
              <a:t> </a:t>
            </a:r>
            <a:r>
              <a:rPr spc="-10" dirty="0"/>
              <a:t>Explication</a:t>
            </a:r>
          </a:p>
          <a:p>
            <a:pPr marL="12700" marR="5080">
              <a:lnSpc>
                <a:spcPct val="165600"/>
              </a:lnSpc>
              <a:spcBef>
                <a:spcPts val="1335"/>
              </a:spcBef>
            </a:pPr>
            <a:r>
              <a:rPr sz="2000" dirty="0"/>
              <a:t>Chaque</a:t>
            </a:r>
            <a:r>
              <a:rPr sz="2000" spc="-105" dirty="0"/>
              <a:t> </a:t>
            </a:r>
            <a:r>
              <a:rPr sz="2000" spc="-20" dirty="0"/>
              <a:t>règle</a:t>
            </a:r>
            <a:r>
              <a:rPr sz="2000" spc="-100" dirty="0"/>
              <a:t> </a:t>
            </a:r>
            <a:r>
              <a:rPr sz="2000" dirty="0"/>
              <a:t>est</a:t>
            </a:r>
            <a:r>
              <a:rPr sz="2000" spc="-100" dirty="0"/>
              <a:t> </a:t>
            </a:r>
            <a:r>
              <a:rPr sz="2000" dirty="0"/>
              <a:t>associée</a:t>
            </a:r>
            <a:r>
              <a:rPr sz="2000" spc="-100" dirty="0"/>
              <a:t> </a:t>
            </a:r>
            <a:r>
              <a:rPr sz="2000" dirty="0"/>
              <a:t>à</a:t>
            </a:r>
            <a:r>
              <a:rPr sz="2000" spc="-100" dirty="0"/>
              <a:t> </a:t>
            </a:r>
            <a:r>
              <a:rPr sz="2000" spc="-20" dirty="0"/>
              <a:t>un</a:t>
            </a:r>
            <a:r>
              <a:rPr sz="2000" spc="-100" dirty="0"/>
              <a:t> </a:t>
            </a:r>
            <a:r>
              <a:rPr sz="2000" dirty="0"/>
              <a:t>facteur</a:t>
            </a:r>
            <a:r>
              <a:rPr sz="2000" spc="-105" dirty="0"/>
              <a:t> </a:t>
            </a:r>
            <a:r>
              <a:rPr sz="2000" spc="-25" dirty="0"/>
              <a:t>de </a:t>
            </a:r>
            <a:r>
              <a:rPr sz="2000" dirty="0"/>
              <a:t>confiance</a:t>
            </a:r>
            <a:r>
              <a:rPr sz="2000" spc="-90" dirty="0"/>
              <a:t> </a:t>
            </a:r>
            <a:r>
              <a:rPr sz="2000" dirty="0"/>
              <a:t>et</a:t>
            </a:r>
            <a:r>
              <a:rPr sz="2000" spc="-90" dirty="0"/>
              <a:t> </a:t>
            </a:r>
            <a:r>
              <a:rPr sz="2000" dirty="0"/>
              <a:t>une</a:t>
            </a:r>
            <a:r>
              <a:rPr sz="2000" spc="-90" dirty="0"/>
              <a:t> </a:t>
            </a:r>
            <a:r>
              <a:rPr sz="2000" spc="-20" dirty="0"/>
              <a:t>explication</a:t>
            </a:r>
            <a:r>
              <a:rPr sz="2000" spc="-90" dirty="0"/>
              <a:t> </a:t>
            </a:r>
            <a:r>
              <a:rPr sz="2000" spc="-10" dirty="0"/>
              <a:t>textuelle</a:t>
            </a:r>
            <a:r>
              <a:rPr sz="2000" spc="-90" dirty="0"/>
              <a:t> </a:t>
            </a:r>
            <a:r>
              <a:rPr sz="2000" dirty="0"/>
              <a:t>pour</a:t>
            </a:r>
            <a:r>
              <a:rPr sz="2000" spc="-90" dirty="0"/>
              <a:t> </a:t>
            </a:r>
            <a:r>
              <a:rPr sz="2000" spc="-25" dirty="0"/>
              <a:t>la </a:t>
            </a:r>
            <a:r>
              <a:rPr sz="2000" spc="-10" dirty="0"/>
              <a:t>transparence.</a:t>
            </a:r>
            <a:endParaRPr sz="200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155" y="6989909"/>
            <a:ext cx="380999" cy="14763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59561" y="2316402"/>
            <a:ext cx="380999" cy="147637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Format</a:t>
            </a:r>
            <a:r>
              <a:rPr spc="-140" dirty="0"/>
              <a:t> </a:t>
            </a:r>
            <a:r>
              <a:rPr spc="180" dirty="0"/>
              <a:t>JSON</a:t>
            </a:r>
            <a:r>
              <a:rPr spc="-135" dirty="0"/>
              <a:t> </a:t>
            </a:r>
            <a:r>
              <a:rPr spc="35" dirty="0"/>
              <a:t>Structure</a:t>
            </a:r>
          </a:p>
          <a:p>
            <a:pPr marL="12700" marR="37465">
              <a:lnSpc>
                <a:spcPct val="165600"/>
              </a:lnSpc>
              <a:spcBef>
                <a:spcPts val="420"/>
              </a:spcBef>
            </a:pPr>
            <a:r>
              <a:rPr sz="2000" dirty="0"/>
              <a:t>Contient</a:t>
            </a:r>
            <a:r>
              <a:rPr sz="2000" spc="-75" dirty="0"/>
              <a:t> </a:t>
            </a:r>
            <a:r>
              <a:rPr sz="2000" dirty="0"/>
              <a:t>une</a:t>
            </a:r>
            <a:r>
              <a:rPr sz="2000" spc="-70" dirty="0"/>
              <a:t> </a:t>
            </a:r>
            <a:r>
              <a:rPr sz="2000" dirty="0"/>
              <a:t>collection</a:t>
            </a:r>
            <a:r>
              <a:rPr sz="2000" spc="-75" dirty="0"/>
              <a:t> </a:t>
            </a:r>
            <a:r>
              <a:rPr sz="2000" spc="-25" dirty="0"/>
              <a:t>organisée</a:t>
            </a:r>
            <a:r>
              <a:rPr sz="2000" spc="-70" dirty="0"/>
              <a:t> </a:t>
            </a:r>
            <a:r>
              <a:rPr sz="2000" dirty="0"/>
              <a:t>de</a:t>
            </a:r>
            <a:r>
              <a:rPr sz="2000" spc="-75" dirty="0"/>
              <a:t> </a:t>
            </a:r>
            <a:r>
              <a:rPr sz="2000" spc="-10" dirty="0"/>
              <a:t>données </a:t>
            </a:r>
            <a:r>
              <a:rPr sz="2000" dirty="0"/>
              <a:t>médicales</a:t>
            </a:r>
            <a:r>
              <a:rPr sz="2000" spc="-125" dirty="0"/>
              <a:t> </a:t>
            </a:r>
            <a:r>
              <a:rPr sz="2000" spc="-10" dirty="0"/>
              <a:t>essentielles</a:t>
            </a:r>
            <a:endParaRPr sz="2000"/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/>
          </a:p>
          <a:p>
            <a:pPr marL="203200">
              <a:lnSpc>
                <a:spcPct val="100000"/>
              </a:lnSpc>
            </a:pPr>
            <a:r>
              <a:rPr dirty="0"/>
              <a:t>Diagnostics</a:t>
            </a:r>
            <a:r>
              <a:rPr spc="290" dirty="0"/>
              <a:t> </a:t>
            </a:r>
            <a:r>
              <a:rPr spc="50" dirty="0"/>
              <a:t>Courants</a:t>
            </a:r>
          </a:p>
          <a:p>
            <a:pPr marL="12700" marR="5080">
              <a:lnSpc>
                <a:spcPct val="165600"/>
              </a:lnSpc>
              <a:spcBef>
                <a:spcPts val="150"/>
              </a:spcBef>
            </a:pPr>
            <a:r>
              <a:rPr sz="2000" dirty="0"/>
              <a:t>Utilise</a:t>
            </a:r>
            <a:r>
              <a:rPr sz="2000" spc="-105" dirty="0"/>
              <a:t> </a:t>
            </a:r>
            <a:r>
              <a:rPr sz="2000" dirty="0"/>
              <a:t>des</a:t>
            </a:r>
            <a:r>
              <a:rPr sz="2000" spc="-100" dirty="0"/>
              <a:t> </a:t>
            </a:r>
            <a:r>
              <a:rPr sz="2000" dirty="0"/>
              <a:t>opérateurs</a:t>
            </a:r>
            <a:r>
              <a:rPr sz="2000" spc="-100" dirty="0"/>
              <a:t> </a:t>
            </a:r>
            <a:r>
              <a:rPr sz="2000" spc="-40" dirty="0"/>
              <a:t>si_tous</a:t>
            </a:r>
            <a:r>
              <a:rPr sz="2000" spc="-100" dirty="0"/>
              <a:t> </a:t>
            </a:r>
            <a:r>
              <a:rPr sz="2000" spc="-10" dirty="0"/>
              <a:t>(conditions </a:t>
            </a:r>
            <a:r>
              <a:rPr sz="2000" spc="-20" dirty="0"/>
              <a:t>obligatoires)</a:t>
            </a:r>
            <a:r>
              <a:rPr sz="2000" spc="-105" dirty="0"/>
              <a:t> </a:t>
            </a:r>
            <a:r>
              <a:rPr sz="2000" dirty="0"/>
              <a:t>et</a:t>
            </a:r>
            <a:r>
              <a:rPr sz="2000" spc="-105" dirty="0"/>
              <a:t> </a:t>
            </a:r>
            <a:r>
              <a:rPr sz="2000" spc="-55" dirty="0"/>
              <a:t>si_un</a:t>
            </a:r>
            <a:r>
              <a:rPr sz="2000" spc="-105" dirty="0"/>
              <a:t> </a:t>
            </a:r>
            <a:r>
              <a:rPr sz="2000" dirty="0"/>
              <a:t>(conditions</a:t>
            </a:r>
            <a:r>
              <a:rPr sz="2000" spc="-100" dirty="0"/>
              <a:t> </a:t>
            </a:r>
            <a:r>
              <a:rPr sz="2000" spc="-10" dirty="0"/>
              <a:t>optionnelles)</a:t>
            </a:r>
            <a:endParaRPr sz="2000"/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000"/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dirty="0"/>
              <a:t>Regles</a:t>
            </a:r>
            <a:r>
              <a:rPr spc="130" dirty="0"/>
              <a:t> </a:t>
            </a:r>
            <a:r>
              <a:rPr spc="-10" dirty="0"/>
              <a:t>Logiques</a:t>
            </a:r>
          </a:p>
          <a:p>
            <a:pPr marL="12700" marR="389890">
              <a:lnSpc>
                <a:spcPct val="165600"/>
              </a:lnSpc>
              <a:spcBef>
                <a:spcPts val="1110"/>
              </a:spcBef>
            </a:pPr>
            <a:r>
              <a:rPr sz="2000" dirty="0"/>
              <a:t>Inclus</a:t>
            </a:r>
            <a:r>
              <a:rPr sz="2000" spc="-100" dirty="0"/>
              <a:t> </a:t>
            </a:r>
            <a:r>
              <a:rPr sz="2000" dirty="0"/>
              <a:t>des</a:t>
            </a:r>
            <a:r>
              <a:rPr sz="2000" spc="-95" dirty="0"/>
              <a:t> </a:t>
            </a:r>
            <a:r>
              <a:rPr sz="2000" dirty="0"/>
              <a:t>affections</a:t>
            </a:r>
            <a:r>
              <a:rPr sz="2000" spc="-100" dirty="0"/>
              <a:t> </a:t>
            </a:r>
            <a:r>
              <a:rPr sz="2000" dirty="0"/>
              <a:t>telles</a:t>
            </a:r>
            <a:r>
              <a:rPr sz="2000" spc="-95" dirty="0"/>
              <a:t> </a:t>
            </a:r>
            <a:r>
              <a:rPr sz="2000" dirty="0"/>
              <a:t>que</a:t>
            </a:r>
            <a:r>
              <a:rPr sz="2000" spc="-100" dirty="0"/>
              <a:t> </a:t>
            </a:r>
            <a:r>
              <a:rPr sz="2000" dirty="0"/>
              <a:t>la</a:t>
            </a:r>
            <a:r>
              <a:rPr sz="2000" spc="-95" dirty="0"/>
              <a:t> </a:t>
            </a:r>
            <a:r>
              <a:rPr sz="2000" spc="-45" dirty="0"/>
              <a:t>grippe,</a:t>
            </a:r>
            <a:r>
              <a:rPr sz="2000" spc="-95" dirty="0"/>
              <a:t> </a:t>
            </a:r>
            <a:r>
              <a:rPr sz="2000" spc="-25" dirty="0"/>
              <a:t>la </a:t>
            </a:r>
            <a:r>
              <a:rPr sz="2000" spc="-35" dirty="0"/>
              <a:t>migraine</a:t>
            </a:r>
            <a:r>
              <a:rPr sz="2000" spc="-130" dirty="0"/>
              <a:t> </a:t>
            </a:r>
            <a:r>
              <a:rPr sz="2000" spc="-20" dirty="0"/>
              <a:t>ou</a:t>
            </a:r>
            <a:r>
              <a:rPr sz="2000" spc="-130" dirty="0"/>
              <a:t> </a:t>
            </a:r>
            <a:r>
              <a:rPr sz="2000" dirty="0"/>
              <a:t>la</a:t>
            </a:r>
            <a:r>
              <a:rPr sz="2000" spc="-130" dirty="0"/>
              <a:t> </a:t>
            </a:r>
            <a:r>
              <a:rPr sz="2000" spc="-10" dirty="0"/>
              <a:t>cystite</a:t>
            </a:r>
            <a:endParaRPr sz="2000"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398" y="724007"/>
            <a:ext cx="742949" cy="7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9922" y="1590486"/>
            <a:ext cx="7143115" cy="76200"/>
          </a:xfrm>
          <a:custGeom>
            <a:avLst/>
            <a:gdLst/>
            <a:ahLst/>
            <a:cxnLst/>
            <a:rect l="l" t="t" r="r" b="b"/>
            <a:pathLst>
              <a:path w="7143115" h="76200">
                <a:moveTo>
                  <a:pt x="7142558" y="76199"/>
                </a:moveTo>
                <a:lnTo>
                  <a:pt x="0" y="76199"/>
                </a:lnTo>
                <a:lnTo>
                  <a:pt x="0" y="0"/>
                </a:lnTo>
                <a:lnTo>
                  <a:pt x="7142558" y="0"/>
                </a:lnTo>
                <a:lnTo>
                  <a:pt x="7142558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1394" y="766542"/>
            <a:ext cx="7844155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-520" dirty="0">
                <a:solidFill>
                  <a:srgbClr val="000000"/>
                </a:solidFill>
                <a:latin typeface="Lucida Sans Unicode"/>
                <a:cs typeface="Lucida Sans Unicode"/>
              </a:rPr>
              <a:t>2.</a:t>
            </a:r>
            <a:r>
              <a:rPr sz="6000" b="0" u="none" spc="-129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50" dirty="0">
                <a:solidFill>
                  <a:srgbClr val="000000"/>
                </a:solidFill>
                <a:latin typeface="Lucida Sans Unicode"/>
                <a:cs typeface="Lucida Sans Unicode"/>
              </a:rPr>
              <a:t>Moteur</a:t>
            </a:r>
            <a:r>
              <a:rPr sz="6000" b="0" u="none" spc="-28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60" dirty="0">
                <a:solidFill>
                  <a:srgbClr val="000000"/>
                </a:solidFill>
                <a:latin typeface="Lucida Sans Unicode"/>
                <a:cs typeface="Lucida Sans Unicode"/>
              </a:rPr>
              <a:t>d’inference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6075" y="4197343"/>
            <a:ext cx="6123305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40" dirty="0">
                <a:latin typeface="Lucida Sans Unicode"/>
                <a:cs typeface="Lucida Sans Unicode"/>
              </a:rPr>
              <a:t>Chainage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155" dirty="0">
                <a:latin typeface="Lucida Sans Unicode"/>
                <a:cs typeface="Lucida Sans Unicode"/>
              </a:rPr>
              <a:t>avant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(Forward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110" dirty="0">
                <a:latin typeface="Lucida Sans Unicode"/>
                <a:cs typeface="Lucida Sans Unicode"/>
              </a:rPr>
              <a:t>Chaining)</a:t>
            </a:r>
            <a:endParaRPr sz="2500">
              <a:latin typeface="Lucida Sans Unicode"/>
              <a:cs typeface="Lucida Sans Unicode"/>
            </a:endParaRPr>
          </a:p>
          <a:p>
            <a:pPr marL="12700" marR="5080">
              <a:lnSpc>
                <a:spcPct val="164800"/>
              </a:lnSpc>
              <a:spcBef>
                <a:spcPts val="490"/>
              </a:spcBef>
            </a:pPr>
            <a:r>
              <a:rPr sz="2200" dirty="0">
                <a:latin typeface="Lucida Sans Unicode"/>
                <a:cs typeface="Lucida Sans Unicode"/>
              </a:rPr>
              <a:t>Le</a:t>
            </a:r>
            <a:r>
              <a:rPr sz="2200" spc="-10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système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part</a:t>
            </a:r>
            <a:r>
              <a:rPr sz="2200" spc="-10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des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symptômes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spc="-50" dirty="0">
                <a:latin typeface="Lucida Sans Unicode"/>
                <a:cs typeface="Lucida Sans Unicode"/>
              </a:rPr>
              <a:t>initiaux</a:t>
            </a:r>
            <a:r>
              <a:rPr sz="2200" spc="-105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pour </a:t>
            </a:r>
            <a:r>
              <a:rPr sz="2200" spc="-30" dirty="0">
                <a:latin typeface="Lucida Sans Unicode"/>
                <a:cs typeface="Lucida Sans Unicode"/>
              </a:rPr>
              <a:t>explorer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systématiquement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tous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spc="-25" dirty="0">
                <a:latin typeface="Lucida Sans Unicode"/>
                <a:cs typeface="Lucida Sans Unicode"/>
              </a:rPr>
              <a:t>les diagnostics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potentiels</a:t>
            </a:r>
            <a:r>
              <a:rPr sz="2200" spc="-8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compatibles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spc="55" dirty="0">
                <a:latin typeface="Lucida Sans Unicode"/>
                <a:cs typeface="Lucida Sans Unicode"/>
              </a:rPr>
              <a:t>avec</a:t>
            </a:r>
            <a:r>
              <a:rPr sz="2200" spc="-80" dirty="0">
                <a:latin typeface="Lucida Sans Unicode"/>
                <a:cs typeface="Lucida Sans Unicode"/>
              </a:rPr>
              <a:t> </a:t>
            </a:r>
            <a:r>
              <a:rPr sz="2200" spc="-25" dirty="0">
                <a:latin typeface="Lucida Sans Unicode"/>
                <a:cs typeface="Lucida Sans Unicode"/>
              </a:rPr>
              <a:t>les </a:t>
            </a:r>
            <a:r>
              <a:rPr sz="2200" dirty="0">
                <a:latin typeface="Lucida Sans Unicode"/>
                <a:cs typeface="Lucida Sans Unicode"/>
              </a:rPr>
              <a:t>données</a:t>
            </a:r>
            <a:r>
              <a:rPr sz="2200" spc="-14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disponibles.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8468" y="4197343"/>
            <a:ext cx="6282055" cy="267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40" dirty="0">
                <a:latin typeface="Lucida Sans Unicode"/>
                <a:cs typeface="Lucida Sans Unicode"/>
              </a:rPr>
              <a:t>Chainage</a:t>
            </a:r>
            <a:r>
              <a:rPr sz="2500" spc="-125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arriere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155" dirty="0">
                <a:latin typeface="Lucida Sans Unicode"/>
                <a:cs typeface="Lucida Sans Unicode"/>
              </a:rPr>
              <a:t>(Backward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110" dirty="0">
                <a:latin typeface="Lucida Sans Unicode"/>
                <a:cs typeface="Lucida Sans Unicode"/>
              </a:rPr>
              <a:t>Chaining)</a:t>
            </a:r>
            <a:endParaRPr sz="2500">
              <a:latin typeface="Lucida Sans Unicode"/>
              <a:cs typeface="Lucida Sans Unicode"/>
            </a:endParaRPr>
          </a:p>
          <a:p>
            <a:pPr marL="12700" marR="929640">
              <a:lnSpc>
                <a:spcPct val="164800"/>
              </a:lnSpc>
              <a:spcBef>
                <a:spcPts val="490"/>
              </a:spcBef>
            </a:pPr>
            <a:r>
              <a:rPr sz="2200" dirty="0">
                <a:latin typeface="Lucida Sans Unicode"/>
                <a:cs typeface="Lucida Sans Unicode"/>
              </a:rPr>
              <a:t>Le</a:t>
            </a:r>
            <a:r>
              <a:rPr sz="2200" spc="-9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système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débute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par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un</a:t>
            </a:r>
            <a:r>
              <a:rPr sz="2200" spc="-9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diagnostic </a:t>
            </a:r>
            <a:r>
              <a:rPr sz="2200" dirty="0">
                <a:latin typeface="Lucida Sans Unicode"/>
                <a:cs typeface="Lucida Sans Unicode"/>
              </a:rPr>
              <a:t>hypothétique</a:t>
            </a:r>
            <a:r>
              <a:rPr sz="2200" spc="-75" dirty="0">
                <a:latin typeface="Lucida Sans Unicode"/>
                <a:cs typeface="Lucida Sans Unicode"/>
              </a:rPr>
              <a:t> </a:t>
            </a:r>
            <a:r>
              <a:rPr sz="2200" spc="50" dirty="0">
                <a:latin typeface="Lucida Sans Unicode"/>
                <a:cs typeface="Lucida Sans Unicode"/>
              </a:rPr>
              <a:t>et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tente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de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vérifier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spc="-45" dirty="0">
                <a:latin typeface="Lucida Sans Unicode"/>
                <a:cs typeface="Lucida Sans Unicode"/>
              </a:rPr>
              <a:t>si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spc="35" dirty="0">
                <a:latin typeface="Lucida Sans Unicode"/>
                <a:cs typeface="Lucida Sans Unicode"/>
              </a:rPr>
              <a:t>ce </a:t>
            </a:r>
            <a:r>
              <a:rPr sz="2200" spc="-20" dirty="0">
                <a:latin typeface="Lucida Sans Unicode"/>
                <a:cs typeface="Lucida Sans Unicode"/>
              </a:rPr>
              <a:t>diagnostic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peut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être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prouvé</a:t>
            </a:r>
            <a:r>
              <a:rPr sz="2200" spc="-8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à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partir</a:t>
            </a:r>
            <a:r>
              <a:rPr sz="2200" spc="-85" dirty="0">
                <a:latin typeface="Lucida Sans Unicode"/>
                <a:cs typeface="Lucida Sans Unicode"/>
              </a:rPr>
              <a:t> </a:t>
            </a:r>
            <a:r>
              <a:rPr sz="2200" spc="-25" dirty="0">
                <a:latin typeface="Lucida Sans Unicode"/>
                <a:cs typeface="Lucida Sans Unicode"/>
              </a:rPr>
              <a:t>des </a:t>
            </a:r>
            <a:r>
              <a:rPr sz="2200" dirty="0">
                <a:latin typeface="Lucida Sans Unicode"/>
                <a:cs typeface="Lucida Sans Unicode"/>
              </a:rPr>
              <a:t>symptômes</a:t>
            </a:r>
            <a:r>
              <a:rPr sz="2200" spc="-135" dirty="0">
                <a:latin typeface="Lucida Sans Unicode"/>
                <a:cs typeface="Lucida Sans Unicode"/>
              </a:rPr>
              <a:t> </a:t>
            </a:r>
            <a:r>
              <a:rPr sz="2200" spc="-20" dirty="0">
                <a:latin typeface="Lucida Sans Unicode"/>
                <a:cs typeface="Lucida Sans Unicode"/>
              </a:rPr>
              <a:t>fournis</a:t>
            </a:r>
            <a:r>
              <a:rPr sz="2200" spc="-13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par</a:t>
            </a:r>
            <a:r>
              <a:rPr sz="2200" spc="-13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l'utilisateur.</a:t>
            </a:r>
            <a:endParaRPr sz="22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435" y="4235411"/>
            <a:ext cx="377329" cy="3773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4828" y="4235411"/>
            <a:ext cx="377329" cy="3773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155" y="8341697"/>
            <a:ext cx="380999" cy="14763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155" y="1841841"/>
            <a:ext cx="380999" cy="14763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36082" y="2386170"/>
            <a:ext cx="8549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0" dirty="0">
                <a:latin typeface="Tahoma"/>
                <a:cs typeface="Tahoma"/>
              </a:rPr>
              <a:t>Coeur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du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systeme,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responsable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114" dirty="0">
                <a:latin typeface="Tahoma"/>
                <a:cs typeface="Tahoma"/>
              </a:rPr>
              <a:t>de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l’application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du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raisonnement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logique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798" y="876407"/>
            <a:ext cx="742949" cy="752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4581" y="8064642"/>
            <a:ext cx="380999" cy="1476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345" y="1690264"/>
            <a:ext cx="380999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3560440"/>
            <a:ext cx="11296649" cy="28860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75378" y="886115"/>
            <a:ext cx="27197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MOTEUR</a:t>
            </a:r>
            <a:r>
              <a:rPr sz="2000" b="1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D'INFÉRENCE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8976" y="1306658"/>
            <a:ext cx="15684500" cy="1666875"/>
          </a:xfrm>
          <a:prstGeom prst="rect">
            <a:avLst/>
          </a:prstGeom>
        </p:spPr>
        <p:txBody>
          <a:bodyPr vert="horz" wrap="square" lIns="0" tIns="328930" rIns="0" bIns="0" rtlCol="0">
            <a:spAutoFit/>
          </a:bodyPr>
          <a:lstStyle/>
          <a:p>
            <a:pPr marL="850900">
              <a:lnSpc>
                <a:spcPct val="100000"/>
              </a:lnSpc>
              <a:spcBef>
                <a:spcPts val="2590"/>
              </a:spcBef>
            </a:pPr>
            <a:r>
              <a:rPr sz="6000" b="0" u="none" spc="225" dirty="0">
                <a:solidFill>
                  <a:srgbClr val="000000"/>
                </a:solidFill>
                <a:latin typeface="Tahoma"/>
                <a:cs typeface="Tahoma"/>
              </a:rPr>
              <a:t>Gestion</a:t>
            </a:r>
            <a:r>
              <a:rPr sz="6000" b="0" u="none" spc="-28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6000" b="0" u="none" spc="320" dirty="0">
                <a:solidFill>
                  <a:srgbClr val="000000"/>
                </a:solidFill>
                <a:latin typeface="Tahoma"/>
                <a:cs typeface="Tahoma"/>
              </a:rPr>
              <a:t>de</a:t>
            </a:r>
            <a:r>
              <a:rPr sz="6000" b="0" u="none" spc="-28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6000" b="0" u="none" spc="65" dirty="0">
                <a:solidFill>
                  <a:srgbClr val="000000"/>
                </a:solidFill>
                <a:latin typeface="Tahoma"/>
                <a:cs typeface="Tahoma"/>
              </a:rPr>
              <a:t>l'Incertitude</a:t>
            </a:r>
            <a:endParaRPr sz="6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000" b="0" u="none" spc="85" dirty="0">
                <a:solidFill>
                  <a:srgbClr val="000000"/>
                </a:solidFill>
                <a:latin typeface="Tahoma"/>
                <a:cs typeface="Tahoma"/>
              </a:rPr>
              <a:t>Chaque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règle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70" dirty="0">
                <a:solidFill>
                  <a:srgbClr val="000000"/>
                </a:solidFill>
                <a:latin typeface="Tahoma"/>
                <a:cs typeface="Tahoma"/>
              </a:rPr>
              <a:t>contribue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50" dirty="0">
                <a:solidFill>
                  <a:srgbClr val="000000"/>
                </a:solidFill>
                <a:latin typeface="Tahoma"/>
                <a:cs typeface="Tahoma"/>
              </a:rPr>
              <a:t>partiellement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à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la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45" dirty="0">
                <a:solidFill>
                  <a:srgbClr val="000000"/>
                </a:solidFill>
                <a:latin typeface="Tahoma"/>
                <a:cs typeface="Tahoma"/>
              </a:rPr>
              <a:t>plausibilité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d'un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diagnostic,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reflétant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la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nature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50" dirty="0">
                <a:solidFill>
                  <a:srgbClr val="000000"/>
                </a:solidFill>
                <a:latin typeface="Tahoma"/>
                <a:cs typeface="Tahoma"/>
              </a:rPr>
              <a:t>souvent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50" dirty="0">
                <a:solidFill>
                  <a:srgbClr val="000000"/>
                </a:solidFill>
                <a:latin typeface="Tahoma"/>
                <a:cs typeface="Tahoma"/>
              </a:rPr>
              <a:t>ambiguë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110" dirty="0">
                <a:solidFill>
                  <a:srgbClr val="000000"/>
                </a:solidFill>
                <a:latin typeface="Tahoma"/>
                <a:cs typeface="Tahoma"/>
              </a:rPr>
              <a:t>des</a:t>
            </a:r>
            <a:r>
              <a:rPr sz="2000" b="0" u="none" spc="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Tahoma"/>
                <a:cs typeface="Tahoma"/>
              </a:rPr>
              <a:t>informations</a:t>
            </a:r>
            <a:r>
              <a:rPr sz="2000" b="0" u="none" spc="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000" b="0" u="none" spc="40" dirty="0">
                <a:solidFill>
                  <a:srgbClr val="000000"/>
                </a:solidFill>
                <a:latin typeface="Tahoma"/>
                <a:cs typeface="Tahoma"/>
              </a:rPr>
              <a:t>médicales.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7768" y="4571169"/>
            <a:ext cx="17513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45" dirty="0">
                <a:latin typeface="Arial Black"/>
                <a:cs typeface="Arial Black"/>
              </a:rPr>
              <a:t>100%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6810" y="4571169"/>
            <a:ext cx="137477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50" dirty="0">
                <a:latin typeface="Arial Black"/>
                <a:cs typeface="Arial Black"/>
              </a:rPr>
              <a:t>75%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9304" y="4571169"/>
            <a:ext cx="137477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50" dirty="0">
                <a:latin typeface="Arial Black"/>
                <a:cs typeface="Arial Black"/>
              </a:rPr>
              <a:t>50%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6306" y="7253275"/>
            <a:ext cx="299402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spc="60" dirty="0">
                <a:latin typeface="Tahoma"/>
                <a:cs typeface="Tahoma"/>
              </a:rPr>
              <a:t>Les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scores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114" dirty="0">
                <a:latin typeface="Tahoma"/>
                <a:cs typeface="Tahoma"/>
              </a:rPr>
              <a:t>de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confiance </a:t>
            </a:r>
            <a:r>
              <a:rPr sz="2000" spc="110" dirty="0">
                <a:latin typeface="Tahoma"/>
                <a:cs typeface="Tahoma"/>
              </a:rPr>
              <a:t>des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règles </a:t>
            </a:r>
            <a:r>
              <a:rPr sz="2000" spc="50" dirty="0">
                <a:latin typeface="Tahoma"/>
                <a:cs typeface="Tahoma"/>
              </a:rPr>
              <a:t>sont</a:t>
            </a:r>
            <a:r>
              <a:rPr sz="2000" spc="500" dirty="0">
                <a:latin typeface="Tahoma"/>
                <a:cs typeface="Tahoma"/>
              </a:rPr>
              <a:t> </a:t>
            </a:r>
            <a:r>
              <a:rPr sz="2000" spc="90" dirty="0">
                <a:latin typeface="Tahoma"/>
                <a:cs typeface="Tahoma"/>
              </a:rPr>
              <a:t>combinés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à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l'aide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d'une </a:t>
            </a:r>
            <a:r>
              <a:rPr sz="2000" dirty="0">
                <a:latin typeface="Tahoma"/>
                <a:cs typeface="Tahoma"/>
              </a:rPr>
              <a:t>formule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probabiliste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40" dirty="0">
                <a:latin typeface="Tahoma"/>
                <a:cs typeface="Tahoma"/>
              </a:rPr>
              <a:t>pour </a:t>
            </a:r>
            <a:r>
              <a:rPr sz="2000" dirty="0">
                <a:latin typeface="Tahoma"/>
                <a:cs typeface="Tahoma"/>
              </a:rPr>
              <a:t>éviter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114" dirty="0">
                <a:latin typeface="Tahoma"/>
                <a:cs typeface="Tahoma"/>
              </a:rPr>
              <a:t>de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dépasser</a:t>
            </a:r>
            <a:r>
              <a:rPr sz="2000" spc="-25" dirty="0">
                <a:latin typeface="Tahoma"/>
                <a:cs typeface="Tahoma"/>
              </a:rPr>
              <a:t> la </a:t>
            </a:r>
            <a:r>
              <a:rPr sz="2000" spc="80" dirty="0">
                <a:latin typeface="Tahoma"/>
                <a:cs typeface="Tahoma"/>
              </a:rPr>
              <a:t>certitude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maximale.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889" y="654245"/>
            <a:ext cx="742949" cy="7524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21546" y="7253275"/>
            <a:ext cx="3688715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Le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résultat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final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75" dirty="0">
                <a:latin typeface="Tahoma"/>
                <a:cs typeface="Tahoma"/>
              </a:rPr>
              <a:t>est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score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90" dirty="0">
                <a:latin typeface="Tahoma"/>
                <a:cs typeface="Tahoma"/>
              </a:rPr>
              <a:t>de </a:t>
            </a:r>
            <a:r>
              <a:rPr sz="2000" dirty="0">
                <a:latin typeface="Tahoma"/>
                <a:cs typeface="Tahoma"/>
              </a:rPr>
              <a:t>plausibilité,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qui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ne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80" dirty="0">
                <a:latin typeface="Tahoma"/>
                <a:cs typeface="Tahoma"/>
              </a:rPr>
              <a:t>doit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90" dirty="0">
                <a:latin typeface="Tahoma"/>
                <a:cs typeface="Tahoma"/>
              </a:rPr>
              <a:t>pas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être </a:t>
            </a:r>
            <a:r>
              <a:rPr sz="2000" spc="45" dirty="0">
                <a:latin typeface="Tahoma"/>
                <a:cs typeface="Tahoma"/>
              </a:rPr>
              <a:t>interprété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110" dirty="0">
                <a:latin typeface="Tahoma"/>
                <a:cs typeface="Tahoma"/>
              </a:rPr>
              <a:t>comme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une </a:t>
            </a:r>
            <a:r>
              <a:rPr sz="2000" spc="55" dirty="0">
                <a:latin typeface="Tahoma"/>
                <a:cs typeface="Tahoma"/>
              </a:rPr>
              <a:t>probabilité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55" dirty="0">
                <a:latin typeface="Tahoma"/>
                <a:cs typeface="Tahoma"/>
              </a:rPr>
              <a:t>clinique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rigoureuse.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74069" y="7253275"/>
            <a:ext cx="3225800" cy="178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Le</a:t>
            </a:r>
            <a:r>
              <a:rPr sz="2000" spc="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moteur</a:t>
            </a:r>
            <a:r>
              <a:rPr sz="2000" spc="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génère</a:t>
            </a:r>
            <a:r>
              <a:rPr sz="2000" spc="90" dirty="0">
                <a:latin typeface="Tahoma"/>
                <a:cs typeface="Tahoma"/>
              </a:rPr>
              <a:t> </a:t>
            </a:r>
            <a:r>
              <a:rPr sz="2000" spc="85" dirty="0">
                <a:latin typeface="Tahoma"/>
                <a:cs typeface="Tahoma"/>
              </a:rPr>
              <a:t>des </a:t>
            </a:r>
            <a:r>
              <a:rPr sz="2000" spc="80" dirty="0">
                <a:latin typeface="Tahoma"/>
                <a:cs typeface="Tahoma"/>
              </a:rPr>
              <a:t>traces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détaillées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110" dirty="0">
                <a:latin typeface="Tahoma"/>
                <a:cs typeface="Tahoma"/>
              </a:rPr>
              <a:t>des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règles </a:t>
            </a:r>
            <a:r>
              <a:rPr sz="2000" spc="60" dirty="0">
                <a:latin typeface="Tahoma"/>
                <a:cs typeface="Tahoma"/>
              </a:rPr>
              <a:t>déclenchées,</a:t>
            </a:r>
            <a:r>
              <a:rPr sz="2000" spc="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offrant</a:t>
            </a:r>
            <a:r>
              <a:rPr sz="2000" spc="4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une </a:t>
            </a:r>
            <a:r>
              <a:rPr sz="2000" spc="50" dirty="0">
                <a:latin typeface="Tahoma"/>
                <a:cs typeface="Tahoma"/>
              </a:rPr>
              <a:t>explication</a:t>
            </a:r>
            <a:r>
              <a:rPr sz="2000" spc="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claire</a:t>
            </a:r>
            <a:r>
              <a:rPr sz="2000" spc="4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du </a:t>
            </a:r>
            <a:r>
              <a:rPr sz="2000" spc="-10" dirty="0">
                <a:latin typeface="Tahoma"/>
                <a:cs typeface="Tahoma"/>
              </a:rPr>
              <a:t>raisonnement.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42489" y="6614369"/>
            <a:ext cx="3122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Combinaison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Progressive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64040" y="6614369"/>
            <a:ext cx="3559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85" dirty="0">
                <a:latin typeface="Arial"/>
                <a:cs typeface="Arial"/>
              </a:rPr>
              <a:t>Pas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Probabilité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Médicale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72994" y="6614369"/>
            <a:ext cx="2738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Traçabilité</a:t>
            </a:r>
            <a:r>
              <a:rPr sz="2000" b="1" spc="1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Explicative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4794" y="8518770"/>
            <a:ext cx="380999" cy="1476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718" y="1939251"/>
            <a:ext cx="380999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61" y="777887"/>
            <a:ext cx="742949" cy="7524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5765" y="2720447"/>
            <a:ext cx="8858249" cy="7277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647556" y="1532165"/>
            <a:ext cx="8027034" cy="76200"/>
          </a:xfrm>
          <a:custGeom>
            <a:avLst/>
            <a:gdLst/>
            <a:ahLst/>
            <a:cxnLst/>
            <a:rect l="l" t="t" r="r" b="b"/>
            <a:pathLst>
              <a:path w="8027034" h="76200">
                <a:moveTo>
                  <a:pt x="8026597" y="76199"/>
                </a:moveTo>
                <a:lnTo>
                  <a:pt x="0" y="76199"/>
                </a:lnTo>
                <a:lnTo>
                  <a:pt x="0" y="0"/>
                </a:lnTo>
                <a:lnTo>
                  <a:pt x="8026597" y="0"/>
                </a:lnTo>
                <a:lnTo>
                  <a:pt x="8026597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2780">
              <a:lnSpc>
                <a:spcPct val="100000"/>
              </a:lnSpc>
              <a:spcBef>
                <a:spcPts val="110"/>
              </a:spcBef>
            </a:pPr>
            <a:r>
              <a:rPr sz="6000" b="0" u="none" dirty="0">
                <a:solidFill>
                  <a:srgbClr val="000000"/>
                </a:solidFill>
                <a:latin typeface="Lucida Sans Unicode"/>
                <a:cs typeface="Lucida Sans Unicode"/>
              </a:rPr>
              <a:t>3.Interface</a:t>
            </a:r>
            <a:r>
              <a:rPr sz="6000" b="0" u="none" spc="8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Utilisateur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7562" y="4175193"/>
            <a:ext cx="6982459" cy="399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indent="-19685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96850" algn="l"/>
              </a:tabLst>
            </a:pPr>
            <a:r>
              <a:rPr sz="2400" dirty="0">
                <a:latin typeface="Lucida Sans Unicode"/>
                <a:cs typeface="Lucida Sans Unicode"/>
              </a:rPr>
              <a:t>Sélection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symptômes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organisés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par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Lucida Sans Unicode"/>
                <a:cs typeface="Lucida Sans Unicode"/>
              </a:rPr>
              <a:t>catégories.</a:t>
            </a:r>
            <a:endParaRPr sz="2400">
              <a:latin typeface="Lucida Sans Unicode"/>
              <a:cs typeface="Lucida Sans Unicode"/>
            </a:endParaRPr>
          </a:p>
          <a:p>
            <a:pPr marL="12700" marR="5080" indent="-12700">
              <a:lnSpc>
                <a:spcPts val="4730"/>
              </a:lnSpc>
              <a:spcBef>
                <a:spcPts val="459"/>
              </a:spcBef>
              <a:buSzPct val="95833"/>
              <a:buChar char="•"/>
              <a:tabLst>
                <a:tab pos="196850" algn="l"/>
              </a:tabLst>
            </a:pPr>
            <a:r>
              <a:rPr sz="2400" spc="-75" dirty="0">
                <a:latin typeface="Lucida Sans Unicode"/>
                <a:cs typeface="Lucida Sans Unicode"/>
              </a:rPr>
              <a:t>	Choix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du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mode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d'inférence</a:t>
            </a:r>
            <a:r>
              <a:rPr sz="2400" spc="-9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(chaînage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avant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ou </a:t>
            </a:r>
            <a:r>
              <a:rPr sz="2400" spc="-10" dirty="0">
                <a:latin typeface="Lucida Sans Unicode"/>
                <a:cs typeface="Lucida Sans Unicode"/>
              </a:rPr>
              <a:t>arrière).</a:t>
            </a:r>
            <a:endParaRPr sz="2400">
              <a:latin typeface="Lucida Sans Unicode"/>
              <a:cs typeface="Lucida Sans Unicode"/>
            </a:endParaRPr>
          </a:p>
          <a:p>
            <a:pPr marL="196850" indent="-196850">
              <a:lnSpc>
                <a:spcPct val="100000"/>
              </a:lnSpc>
              <a:spcBef>
                <a:spcPts val="1375"/>
              </a:spcBef>
              <a:buSzPct val="95833"/>
              <a:buChar char="•"/>
              <a:tabLst>
                <a:tab pos="196850" algn="l"/>
              </a:tabLst>
            </a:pPr>
            <a:r>
              <a:rPr sz="2400" spc="-20" dirty="0">
                <a:latin typeface="Lucida Sans Unicode"/>
                <a:cs typeface="Lucida Sans Unicode"/>
              </a:rPr>
              <a:t>Affichage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clair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diagnostics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proposés,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</a:t>
            </a:r>
            <a:endParaRPr sz="2400">
              <a:latin typeface="Lucida Sans Unicode"/>
              <a:cs typeface="Lucida Sans Unicode"/>
            </a:endParaRPr>
          </a:p>
          <a:p>
            <a:pPr marL="12700" marR="412750">
              <a:lnSpc>
                <a:spcPts val="4730"/>
              </a:lnSpc>
              <a:spcBef>
                <a:spcPts val="260"/>
              </a:spcBef>
            </a:pPr>
            <a:r>
              <a:rPr sz="2400" spc="-10" dirty="0">
                <a:latin typeface="Lucida Sans Unicode"/>
                <a:cs typeface="Lucida Sans Unicode"/>
              </a:rPr>
              <a:t>leurs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scores</a:t>
            </a:r>
            <a:r>
              <a:rPr sz="2400" spc="-1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confiance</a:t>
            </a:r>
            <a:r>
              <a:rPr sz="2400" spc="-12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et</a:t>
            </a:r>
            <a:r>
              <a:rPr sz="2400" spc="-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</a:t>
            </a:r>
            <a:r>
              <a:rPr sz="2400" spc="-1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explications associées.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71130" y="2174117"/>
            <a:ext cx="5498465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2000" spc="105" dirty="0">
                <a:latin typeface="Tahoma"/>
                <a:cs typeface="Tahoma"/>
              </a:rPr>
              <a:t>Conçue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60" dirty="0">
                <a:latin typeface="Tahoma"/>
                <a:cs typeface="Tahoma"/>
              </a:rPr>
              <a:t>pour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70" dirty="0">
                <a:latin typeface="Tahoma"/>
                <a:cs typeface="Tahoma"/>
              </a:rPr>
              <a:t>simplicité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70" dirty="0">
                <a:latin typeface="Tahoma"/>
                <a:cs typeface="Tahoma"/>
              </a:rPr>
              <a:t>et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l'interactivité, </a:t>
            </a:r>
            <a:r>
              <a:rPr sz="2000" dirty="0">
                <a:latin typeface="Tahoma"/>
                <a:cs typeface="Tahoma"/>
              </a:rPr>
              <a:t>l'interface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65" dirty="0">
                <a:latin typeface="Tahoma"/>
                <a:cs typeface="Tahoma"/>
              </a:rPr>
              <a:t>web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75" dirty="0">
                <a:latin typeface="Tahoma"/>
                <a:cs typeface="Tahoma"/>
              </a:rPr>
              <a:t>permet</a:t>
            </a:r>
            <a:r>
              <a:rPr sz="2000" dirty="0">
                <a:latin typeface="Tahoma"/>
                <a:cs typeface="Tahoma"/>
              </a:rPr>
              <a:t> une </a:t>
            </a:r>
            <a:r>
              <a:rPr sz="2000" spc="50" dirty="0">
                <a:latin typeface="Tahoma"/>
                <a:cs typeface="Tahoma"/>
              </a:rPr>
              <a:t>interaction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intuitive </a:t>
            </a:r>
            <a:r>
              <a:rPr sz="2000" spc="65" dirty="0">
                <a:latin typeface="Tahoma"/>
                <a:cs typeface="Tahoma"/>
              </a:rPr>
              <a:t>avec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système.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552" y="506401"/>
            <a:ext cx="380999" cy="1476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66" y="8518770"/>
            <a:ext cx="380999" cy="14763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167015" y="9477366"/>
            <a:ext cx="635" cy="635"/>
          </a:xfrm>
          <a:custGeom>
            <a:avLst/>
            <a:gdLst/>
            <a:ahLst/>
            <a:cxnLst/>
            <a:rect l="l" t="t" r="r" b="b"/>
            <a:pathLst>
              <a:path w="635" h="634">
                <a:moveTo>
                  <a:pt x="93" y="0"/>
                </a:moveTo>
                <a:lnTo>
                  <a:pt x="0" y="149"/>
                </a:lnTo>
              </a:path>
            </a:pathLst>
          </a:custGeom>
          <a:ln w="129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378152" y="9032768"/>
            <a:ext cx="337185" cy="445134"/>
          </a:xfrm>
          <a:custGeom>
            <a:avLst/>
            <a:gdLst/>
            <a:ahLst/>
            <a:cxnLst/>
            <a:rect l="l" t="t" r="r" b="b"/>
            <a:pathLst>
              <a:path w="337184" h="445134">
                <a:moveTo>
                  <a:pt x="337102" y="444663"/>
                </a:moveTo>
                <a:lnTo>
                  <a:pt x="336966" y="444513"/>
                </a:lnTo>
              </a:path>
              <a:path w="337184" h="445134">
                <a:moveTo>
                  <a:pt x="140" y="120"/>
                </a:moveTo>
                <a:lnTo>
                  <a:pt x="0" y="0"/>
                </a:lnTo>
              </a:path>
            </a:pathLst>
          </a:custGeom>
          <a:ln w="129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282" y="793662"/>
            <a:ext cx="742949" cy="7524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07434" y="1545967"/>
            <a:ext cx="9779000" cy="76200"/>
          </a:xfrm>
          <a:custGeom>
            <a:avLst/>
            <a:gdLst/>
            <a:ahLst/>
            <a:cxnLst/>
            <a:rect l="l" t="t" r="r" b="b"/>
            <a:pathLst>
              <a:path w="9779000" h="76200">
                <a:moveTo>
                  <a:pt x="9778772" y="76199"/>
                </a:moveTo>
                <a:lnTo>
                  <a:pt x="0" y="76199"/>
                </a:lnTo>
                <a:lnTo>
                  <a:pt x="0" y="0"/>
                </a:lnTo>
                <a:lnTo>
                  <a:pt x="9778772" y="0"/>
                </a:lnTo>
                <a:lnTo>
                  <a:pt x="9778772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341265" y="1545967"/>
            <a:ext cx="450215" cy="76200"/>
          </a:xfrm>
          <a:custGeom>
            <a:avLst/>
            <a:gdLst/>
            <a:ahLst/>
            <a:cxnLst/>
            <a:rect l="l" t="t" r="r" b="b"/>
            <a:pathLst>
              <a:path w="450215" h="76200">
                <a:moveTo>
                  <a:pt x="449693" y="76199"/>
                </a:moveTo>
                <a:lnTo>
                  <a:pt x="0" y="76199"/>
                </a:lnTo>
                <a:lnTo>
                  <a:pt x="0" y="0"/>
                </a:lnTo>
                <a:lnTo>
                  <a:pt x="449693" y="0"/>
                </a:lnTo>
                <a:lnTo>
                  <a:pt x="449693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46016" y="1545967"/>
            <a:ext cx="481330" cy="76200"/>
          </a:xfrm>
          <a:custGeom>
            <a:avLst/>
            <a:gdLst/>
            <a:ahLst/>
            <a:cxnLst/>
            <a:rect l="l" t="t" r="r" b="b"/>
            <a:pathLst>
              <a:path w="481330" h="76200">
                <a:moveTo>
                  <a:pt x="481098" y="76199"/>
                </a:moveTo>
                <a:lnTo>
                  <a:pt x="0" y="76199"/>
                </a:lnTo>
                <a:lnTo>
                  <a:pt x="0" y="0"/>
                </a:lnTo>
                <a:lnTo>
                  <a:pt x="481098" y="0"/>
                </a:lnTo>
                <a:lnTo>
                  <a:pt x="481098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049953" y="1545967"/>
            <a:ext cx="944880" cy="76200"/>
          </a:xfrm>
          <a:custGeom>
            <a:avLst/>
            <a:gdLst/>
            <a:ahLst/>
            <a:cxnLst/>
            <a:rect l="l" t="t" r="r" b="b"/>
            <a:pathLst>
              <a:path w="944880" h="76200">
                <a:moveTo>
                  <a:pt x="944519" y="76199"/>
                </a:moveTo>
                <a:lnTo>
                  <a:pt x="0" y="76199"/>
                </a:lnTo>
                <a:lnTo>
                  <a:pt x="0" y="0"/>
                </a:lnTo>
                <a:lnTo>
                  <a:pt x="944519" y="0"/>
                </a:lnTo>
                <a:lnTo>
                  <a:pt x="944519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270" dirty="0">
                <a:solidFill>
                  <a:srgbClr val="000000"/>
                </a:solidFill>
                <a:latin typeface="Lucida Sans Unicode"/>
                <a:cs typeface="Lucida Sans Unicode"/>
              </a:rPr>
              <a:t>Démarche</a:t>
            </a:r>
            <a:r>
              <a:rPr sz="6000" b="0" u="none" spc="-229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45" dirty="0">
                <a:solidFill>
                  <a:srgbClr val="000000"/>
                </a:solidFill>
                <a:latin typeface="Lucida Sans Unicode"/>
                <a:cs typeface="Lucida Sans Unicode"/>
              </a:rPr>
              <a:t>et</a:t>
            </a:r>
            <a:r>
              <a:rPr sz="6000" b="0" u="none" spc="-22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dirty="0">
                <a:solidFill>
                  <a:srgbClr val="000000"/>
                </a:solidFill>
                <a:latin typeface="Lucida Sans Unicode"/>
                <a:cs typeface="Lucida Sans Unicode"/>
              </a:rPr>
              <a:t>Intérêt</a:t>
            </a:r>
            <a:r>
              <a:rPr sz="6000" b="0" u="none" spc="-22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235" dirty="0">
                <a:solidFill>
                  <a:srgbClr val="000000"/>
                </a:solidFill>
                <a:latin typeface="Lucida Sans Unicode"/>
                <a:cs typeface="Lucida Sans Unicode"/>
              </a:rPr>
              <a:t>Pédagogique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5778" y="3267843"/>
            <a:ext cx="2996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Séparation</a:t>
            </a:r>
            <a:r>
              <a:rPr sz="2800" b="1" spc="11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Claire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7102" y="3267843"/>
            <a:ext cx="3178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latin typeface="Arial"/>
                <a:cs typeface="Arial"/>
              </a:rPr>
              <a:t>IA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Explicable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(XAI)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85326" y="3267843"/>
            <a:ext cx="4277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Illustration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des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Principes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5778" y="4115906"/>
            <a:ext cx="3402965" cy="349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80" dirty="0">
                <a:latin typeface="Tahoma"/>
                <a:cs typeface="Tahoma"/>
              </a:rPr>
              <a:t>Distinction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nette entre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les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données,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le </a:t>
            </a:r>
            <a:r>
              <a:rPr sz="2800" spc="70" dirty="0">
                <a:latin typeface="Tahoma"/>
                <a:cs typeface="Tahoma"/>
              </a:rPr>
              <a:t>moteur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120" dirty="0">
                <a:latin typeface="Tahoma"/>
                <a:cs typeface="Tahoma"/>
              </a:rPr>
              <a:t>de </a:t>
            </a:r>
            <a:r>
              <a:rPr sz="2800" spc="70" dirty="0">
                <a:latin typeface="Tahoma"/>
                <a:cs typeface="Tahoma"/>
              </a:rPr>
              <a:t>raisonnement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et </a:t>
            </a:r>
            <a:r>
              <a:rPr sz="2800" spc="45" dirty="0">
                <a:latin typeface="Tahoma"/>
                <a:cs typeface="Tahoma"/>
              </a:rPr>
              <a:t>l'interface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utilisateur, </a:t>
            </a:r>
            <a:r>
              <a:rPr sz="2800" dirty="0">
                <a:latin typeface="Tahoma"/>
                <a:cs typeface="Tahoma"/>
              </a:rPr>
              <a:t>favorisant</a:t>
            </a:r>
            <a:r>
              <a:rPr sz="2800" spc="2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la </a:t>
            </a:r>
            <a:r>
              <a:rPr sz="2800" spc="55" dirty="0">
                <a:latin typeface="Tahoma"/>
                <a:cs typeface="Tahoma"/>
              </a:rPr>
              <a:t>compréhension.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3003" y="4115906"/>
            <a:ext cx="432181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60" dirty="0">
                <a:latin typeface="Tahoma"/>
                <a:cs typeface="Tahoma"/>
              </a:rPr>
              <a:t>Le</a:t>
            </a:r>
            <a:r>
              <a:rPr sz="2800" spc="-130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système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110" dirty="0">
                <a:latin typeface="Tahoma"/>
                <a:cs typeface="Tahoma"/>
              </a:rPr>
              <a:t>est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140" dirty="0">
                <a:latin typeface="Tahoma"/>
                <a:cs typeface="Tahoma"/>
              </a:rPr>
              <a:t>conçu </a:t>
            </a:r>
            <a:r>
              <a:rPr sz="2800" spc="80" dirty="0">
                <a:latin typeface="Tahoma"/>
                <a:cs typeface="Tahoma"/>
              </a:rPr>
              <a:t>pour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expliquer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son </a:t>
            </a:r>
            <a:r>
              <a:rPr sz="2800" spc="50" dirty="0">
                <a:latin typeface="Tahoma"/>
                <a:cs typeface="Tahoma"/>
              </a:rPr>
              <a:t>raisonnement,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principe </a:t>
            </a:r>
            <a:r>
              <a:rPr sz="2800" spc="130" dirty="0">
                <a:latin typeface="Tahoma"/>
                <a:cs typeface="Tahoma"/>
              </a:rPr>
              <a:t>clé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155" dirty="0">
                <a:latin typeface="Tahoma"/>
                <a:cs typeface="Tahoma"/>
              </a:rPr>
              <a:t>de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l'IA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35" dirty="0">
                <a:latin typeface="Tahoma"/>
                <a:cs typeface="Tahoma"/>
              </a:rPr>
              <a:t>moderne.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40604" y="4115906"/>
            <a:ext cx="430720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spc="75" dirty="0">
                <a:latin typeface="Tahoma"/>
                <a:cs typeface="Tahoma"/>
              </a:rPr>
              <a:t>Démontre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les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fondements </a:t>
            </a:r>
            <a:r>
              <a:rPr sz="2800" spc="150" dirty="0">
                <a:latin typeface="Tahoma"/>
                <a:cs typeface="Tahoma"/>
              </a:rPr>
              <a:t>des</a:t>
            </a:r>
            <a:r>
              <a:rPr sz="2800" spc="-125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systèmes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experts </a:t>
            </a:r>
            <a:r>
              <a:rPr sz="2800" spc="105" dirty="0">
                <a:latin typeface="Tahoma"/>
                <a:cs typeface="Tahoma"/>
              </a:rPr>
              <a:t>classiques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155" dirty="0">
                <a:latin typeface="Tahoma"/>
                <a:cs typeface="Tahoma"/>
              </a:rPr>
              <a:t>de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manière </a:t>
            </a:r>
            <a:r>
              <a:rPr sz="2800" spc="60" dirty="0">
                <a:latin typeface="Tahoma"/>
                <a:cs typeface="Tahoma"/>
              </a:rPr>
              <a:t>concrète.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3721" y="3356573"/>
            <a:ext cx="377329" cy="37732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78374" y="3333148"/>
            <a:ext cx="377328" cy="37732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21750" y="3356573"/>
            <a:ext cx="377328" cy="377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2984" y="1468154"/>
            <a:ext cx="9585960" cy="76200"/>
          </a:xfrm>
          <a:custGeom>
            <a:avLst/>
            <a:gdLst/>
            <a:ahLst/>
            <a:cxnLst/>
            <a:rect l="l" t="t" r="r" b="b"/>
            <a:pathLst>
              <a:path w="9585960" h="76200">
                <a:moveTo>
                  <a:pt x="9585721" y="76199"/>
                </a:moveTo>
                <a:lnTo>
                  <a:pt x="0" y="76199"/>
                </a:lnTo>
                <a:lnTo>
                  <a:pt x="0" y="0"/>
                </a:lnTo>
                <a:lnTo>
                  <a:pt x="9585721" y="0"/>
                </a:lnTo>
                <a:lnTo>
                  <a:pt x="9585721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0284" y="644210"/>
            <a:ext cx="9611360" cy="942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u="none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Limites</a:t>
            </a:r>
            <a:r>
              <a:rPr sz="6000" b="0" u="none" spc="-38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45" dirty="0">
                <a:solidFill>
                  <a:srgbClr val="000000"/>
                </a:solidFill>
                <a:latin typeface="Lucida Sans Unicode"/>
                <a:cs typeface="Lucida Sans Unicode"/>
              </a:rPr>
              <a:t>et</a:t>
            </a:r>
            <a:r>
              <a:rPr sz="6000" b="0" u="none" spc="-375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6000" b="0" u="none" spc="100" dirty="0">
                <a:solidFill>
                  <a:srgbClr val="000000"/>
                </a:solidFill>
                <a:latin typeface="Lucida Sans Unicode"/>
                <a:cs typeface="Lucida Sans Unicode"/>
              </a:rPr>
              <a:t>Considérations</a:t>
            </a:r>
            <a:endParaRPr sz="60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8704" y="3155546"/>
            <a:ext cx="12686030" cy="339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indent="-19685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96850" algn="l"/>
              </a:tabLst>
            </a:pPr>
            <a:r>
              <a:rPr sz="2400" spc="55" dirty="0">
                <a:latin typeface="Lucida Sans Unicode"/>
                <a:cs typeface="Lucida Sans Unicode"/>
              </a:rPr>
              <a:t>Prototype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pédagogique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45" dirty="0">
                <a:latin typeface="Lucida Sans Unicode"/>
                <a:cs typeface="Lucida Sans Unicode"/>
              </a:rPr>
              <a:t>: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conçu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uniquement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à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fins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d'apprentissage</a:t>
            </a:r>
            <a:r>
              <a:rPr sz="2400" spc="-135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et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de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Lucida Sans Unicode"/>
                <a:cs typeface="Lucida Sans Unicode"/>
              </a:rPr>
              <a:t>démonstration.</a:t>
            </a:r>
            <a:endParaRPr sz="2400">
              <a:latin typeface="Lucida Sans Unicode"/>
              <a:cs typeface="Lucida Sans Unicode"/>
            </a:endParaRPr>
          </a:p>
          <a:p>
            <a:pPr marL="12700" marR="5080" indent="-12700">
              <a:lnSpc>
                <a:spcPts val="4730"/>
              </a:lnSpc>
              <a:spcBef>
                <a:spcPts val="459"/>
              </a:spcBef>
              <a:buSzPct val="95833"/>
              <a:buChar char="•"/>
              <a:tabLst>
                <a:tab pos="196850" algn="l"/>
              </a:tabLst>
            </a:pPr>
            <a:r>
              <a:rPr sz="2400" spc="-20" dirty="0">
                <a:latin typeface="Lucida Sans Unicode"/>
                <a:cs typeface="Lucida Sans Unicode"/>
              </a:rPr>
              <a:t>	Règles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médicales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simplifiées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145" dirty="0">
                <a:latin typeface="Lucida Sans Unicode"/>
                <a:cs typeface="Lucida Sans Unicode"/>
              </a:rPr>
              <a:t>: </a:t>
            </a:r>
            <a:r>
              <a:rPr sz="2400" dirty="0">
                <a:latin typeface="Lucida Sans Unicode"/>
                <a:cs typeface="Lucida Sans Unicode"/>
              </a:rPr>
              <a:t>la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complexité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du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corps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30" dirty="0">
                <a:latin typeface="Lucida Sans Unicode"/>
                <a:cs typeface="Lucida Sans Unicode"/>
              </a:rPr>
              <a:t>humain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55" dirty="0">
                <a:latin typeface="Lucida Sans Unicode"/>
                <a:cs typeface="Lucida Sans Unicode"/>
              </a:rPr>
              <a:t>et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la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médecine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réelle </a:t>
            </a:r>
            <a:r>
              <a:rPr sz="2400" dirty="0">
                <a:latin typeface="Lucida Sans Unicode"/>
                <a:cs typeface="Lucida Sans Unicode"/>
              </a:rPr>
              <a:t>est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considérablement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réduite.</a:t>
            </a:r>
            <a:endParaRPr sz="2400">
              <a:latin typeface="Lucida Sans Unicode"/>
              <a:cs typeface="Lucida Sans Unicode"/>
            </a:endParaRPr>
          </a:p>
          <a:p>
            <a:pPr marL="196850" indent="-196850">
              <a:lnSpc>
                <a:spcPct val="100000"/>
              </a:lnSpc>
              <a:spcBef>
                <a:spcPts val="1375"/>
              </a:spcBef>
              <a:buSzPct val="95833"/>
              <a:buChar char="•"/>
              <a:tabLst>
                <a:tab pos="196850" algn="l"/>
              </a:tabLst>
            </a:pPr>
            <a:r>
              <a:rPr sz="2400" dirty="0">
                <a:latin typeface="Lucida Sans Unicode"/>
                <a:cs typeface="Lucida Sans Unicode"/>
              </a:rPr>
              <a:t>Non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substitut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médical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145" dirty="0">
                <a:latin typeface="Lucida Sans Unicode"/>
                <a:cs typeface="Lucida Sans Unicode"/>
              </a:rPr>
              <a:t>: </a:t>
            </a:r>
            <a:r>
              <a:rPr sz="2400" dirty="0">
                <a:latin typeface="Lucida Sans Unicode"/>
                <a:cs typeface="Lucida Sans Unicode"/>
              </a:rPr>
              <a:t>ne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remplace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aucun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un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diagnostic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ou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un</a:t>
            </a:r>
            <a:r>
              <a:rPr sz="2400" spc="-1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avis</a:t>
            </a:r>
            <a:r>
              <a:rPr sz="2400" spc="-1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médical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Lucida Sans Unicode"/>
                <a:cs typeface="Lucida Sans Unicode"/>
              </a:rPr>
              <a:t>professionnel.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6198" y="5100394"/>
            <a:ext cx="380999" cy="14763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014" y="3067288"/>
            <a:ext cx="380999" cy="14763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993" y="793662"/>
            <a:ext cx="742949" cy="752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945" y="5155030"/>
            <a:ext cx="8848053" cy="51319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3" rIns="0" bIns="0" rtlCol="0">
            <a:spAutoFit/>
          </a:bodyPr>
          <a:lstStyle/>
          <a:p>
            <a:pPr marL="116014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REFERENCES</a:t>
            </a:r>
            <a:r>
              <a:rPr spc="25" dirty="0"/>
              <a:t> </a:t>
            </a:r>
            <a:r>
              <a:rPr spc="-370" dirty="0"/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2327229" y="9938857"/>
            <a:ext cx="13335" cy="348615"/>
          </a:xfrm>
          <a:custGeom>
            <a:avLst/>
            <a:gdLst/>
            <a:ahLst/>
            <a:cxnLst/>
            <a:rect l="l" t="t" r="r" b="b"/>
            <a:pathLst>
              <a:path w="13335" h="348615">
                <a:moveTo>
                  <a:pt x="0" y="348142"/>
                </a:moveTo>
                <a:lnTo>
                  <a:pt x="1408" y="336806"/>
                </a:lnTo>
                <a:lnTo>
                  <a:pt x="6223" y="289394"/>
                </a:lnTo>
                <a:lnTo>
                  <a:pt x="9988" y="241678"/>
                </a:lnTo>
                <a:lnTo>
                  <a:pt x="12785" y="193671"/>
                </a:lnTo>
              </a:path>
              <a:path w="13335" h="348615">
                <a:moveTo>
                  <a:pt x="12780" y="2624"/>
                </a:moveTo>
                <a:lnTo>
                  <a:pt x="12588" y="0"/>
                </a:lnTo>
              </a:path>
            </a:pathLst>
          </a:custGeom>
          <a:ln w="129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6245" y="6817070"/>
            <a:ext cx="380999" cy="14763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66" y="2257574"/>
            <a:ext cx="380999" cy="14763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0670" y="857673"/>
            <a:ext cx="742949" cy="7524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7505" y="2962461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700"/>
              </a:lnSpc>
              <a:spcBef>
                <a:spcPts val="100"/>
              </a:spcBef>
            </a:pPr>
            <a:r>
              <a:rPr spc="95" dirty="0"/>
              <a:t>Systèmes</a:t>
            </a:r>
            <a:r>
              <a:rPr spc="-114" dirty="0"/>
              <a:t> </a:t>
            </a:r>
            <a:r>
              <a:rPr spc="80" dirty="0"/>
              <a:t>experts</a:t>
            </a:r>
            <a:r>
              <a:rPr spc="-110" dirty="0"/>
              <a:t> </a:t>
            </a:r>
            <a:r>
              <a:rPr spc="-420" dirty="0"/>
              <a:t>:</a:t>
            </a:r>
            <a:r>
              <a:rPr spc="-114" dirty="0"/>
              <a:t> </a:t>
            </a:r>
            <a:r>
              <a:rPr u="heavy" spc="70" dirty="0">
                <a:uFill>
                  <a:solidFill>
                    <a:srgbClr val="1F64B6"/>
                  </a:solidFill>
                </a:uFill>
                <a:hlinkClick r:id="rId6"/>
              </a:rPr>
              <a:t>HAL</a:t>
            </a:r>
            <a:r>
              <a:rPr u="heavy" spc="-110" dirty="0">
                <a:uFill>
                  <a:solidFill>
                    <a:srgbClr val="1F64B6"/>
                  </a:solidFill>
                </a:uFill>
                <a:hlinkClick r:id="rId6"/>
              </a:rPr>
              <a:t> </a:t>
            </a:r>
            <a:r>
              <a:rPr u="heavy" spc="80" dirty="0">
                <a:uFill>
                  <a:solidFill>
                    <a:srgbClr val="1F64B6"/>
                  </a:solidFill>
                </a:uFill>
                <a:hlinkClick r:id="rId6"/>
              </a:rPr>
              <a:t>Archives</a:t>
            </a:r>
            <a:r>
              <a:rPr spc="-114" dirty="0"/>
              <a:t> </a:t>
            </a:r>
            <a:r>
              <a:rPr spc="405" dirty="0"/>
              <a:t>-</a:t>
            </a:r>
            <a:r>
              <a:rPr spc="-110" dirty="0"/>
              <a:t> </a:t>
            </a:r>
            <a:r>
              <a:rPr spc="125" dirty="0"/>
              <a:t>Conception</a:t>
            </a:r>
            <a:r>
              <a:rPr spc="-114" dirty="0"/>
              <a:t> </a:t>
            </a:r>
            <a:r>
              <a:rPr spc="70" dirty="0"/>
              <a:t>et architecture</a:t>
            </a:r>
          </a:p>
          <a:p>
            <a:pPr marL="25400" marR="17780" algn="ctr">
              <a:lnSpc>
                <a:spcPct val="115700"/>
              </a:lnSpc>
            </a:pPr>
            <a:r>
              <a:rPr spc="75" dirty="0"/>
              <a:t>Diabète</a:t>
            </a:r>
            <a:r>
              <a:rPr spc="-110" dirty="0"/>
              <a:t> </a:t>
            </a:r>
            <a:r>
              <a:rPr spc="-420" dirty="0"/>
              <a:t>:</a:t>
            </a:r>
            <a:r>
              <a:rPr spc="-110" dirty="0"/>
              <a:t> </a:t>
            </a:r>
            <a:r>
              <a:rPr u="heavy" spc="100" dirty="0">
                <a:uFill>
                  <a:solidFill>
                    <a:srgbClr val="1F64B6"/>
                  </a:solidFill>
                </a:uFill>
                <a:hlinkClick r:id="rId7"/>
              </a:rPr>
              <a:t>ScienceDirect</a:t>
            </a:r>
            <a:r>
              <a:rPr spc="-105" dirty="0"/>
              <a:t> </a:t>
            </a:r>
            <a:r>
              <a:rPr spc="405" dirty="0"/>
              <a:t>-</a:t>
            </a:r>
            <a:r>
              <a:rPr spc="-110" dirty="0"/>
              <a:t> </a:t>
            </a:r>
            <a:r>
              <a:rPr spc="100" dirty="0"/>
              <a:t>Application</a:t>
            </a:r>
            <a:r>
              <a:rPr spc="-105" dirty="0"/>
              <a:t> </a:t>
            </a:r>
            <a:r>
              <a:rPr spc="80" dirty="0"/>
              <a:t>pratique</a:t>
            </a:r>
            <a:r>
              <a:rPr spc="-110" dirty="0"/>
              <a:t> </a:t>
            </a:r>
            <a:r>
              <a:rPr spc="-25" dirty="0"/>
              <a:t>au </a:t>
            </a:r>
            <a:r>
              <a:rPr spc="85" dirty="0"/>
              <a:t>diabète</a:t>
            </a:r>
          </a:p>
          <a:p>
            <a:pPr marL="303530" marR="295910" algn="ctr">
              <a:lnSpc>
                <a:spcPct val="115700"/>
              </a:lnSpc>
              <a:spcBef>
                <a:spcPts val="5"/>
              </a:spcBef>
            </a:pPr>
            <a:r>
              <a:rPr spc="55" dirty="0"/>
              <a:t>Logique</a:t>
            </a:r>
            <a:r>
              <a:rPr spc="-110" dirty="0"/>
              <a:t> </a:t>
            </a:r>
            <a:r>
              <a:rPr spc="-420" dirty="0"/>
              <a:t>:</a:t>
            </a:r>
            <a:r>
              <a:rPr spc="-105" dirty="0"/>
              <a:t> </a:t>
            </a:r>
            <a:r>
              <a:rPr u="heavy" spc="80" dirty="0">
                <a:uFill>
                  <a:solidFill>
                    <a:srgbClr val="1F64B6"/>
                  </a:solidFill>
                </a:uFill>
                <a:hlinkClick r:id="rId8"/>
              </a:rPr>
              <a:t>MobileDSS</a:t>
            </a:r>
            <a:r>
              <a:rPr spc="-105" dirty="0"/>
              <a:t> </a:t>
            </a:r>
            <a:r>
              <a:rPr spc="405" dirty="0"/>
              <a:t>-</a:t>
            </a:r>
            <a:r>
              <a:rPr spc="-105" dirty="0"/>
              <a:t> </a:t>
            </a:r>
            <a:r>
              <a:rPr spc="50" dirty="0"/>
              <a:t>Programmation</a:t>
            </a:r>
            <a:r>
              <a:rPr spc="-105" dirty="0"/>
              <a:t> </a:t>
            </a:r>
            <a:r>
              <a:rPr spc="40" dirty="0"/>
              <a:t>logique </a:t>
            </a:r>
            <a:r>
              <a:rPr spc="90" dirty="0"/>
              <a:t>médicale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7505" y="3914961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7505" y="4867461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64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566</Words>
  <Application>Microsoft Office PowerPoint</Application>
  <PresentationFormat>Personnalisé</PresentationFormat>
  <Paragraphs>79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Lucida Sans Unicode</vt:lpstr>
      <vt:lpstr>Tahoma</vt:lpstr>
      <vt:lpstr>Office Theme</vt:lpstr>
      <vt:lpstr>Projet : Systeme expert</vt:lpstr>
      <vt:lpstr>Contexte et Objectifs du</vt:lpstr>
      <vt:lpstr>Architecture générale du système</vt:lpstr>
      <vt:lpstr>1. Base de connaissances</vt:lpstr>
      <vt:lpstr>2. Moteur d’inference</vt:lpstr>
      <vt:lpstr>Gestion de l'Incertitude Chaque règle contribue partiellement à la plausibilité d'un diagnostic, reflétant la nature souvent ambiguë des informations médicales.</vt:lpstr>
      <vt:lpstr>3.Interface Utilisateur</vt:lpstr>
      <vt:lpstr>Démarche et Intérêt Pédagogique</vt:lpstr>
      <vt:lpstr>Limites et Considérations</vt:lpstr>
      <vt:lpstr>REFERENCES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IA</dc:title>
  <dc:creator>Kawthar Idelouali</dc:creator>
  <cp:keywords>DAHALkD-wfk,BAFP3fx7nqE,0</cp:keywords>
  <cp:lastModifiedBy>Badr El Bakkali</cp:lastModifiedBy>
  <cp:revision>1</cp:revision>
  <dcterms:created xsi:type="dcterms:W3CDTF">2026-02-02T21:53:52Z</dcterms:created>
  <dcterms:modified xsi:type="dcterms:W3CDTF">2026-02-02T22:39:41Z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2026-02-02T00:00:00Z</vt:filetime>
  </property>
  <property fmtid="{D5CDD505-2E9C-101B-9397-08002B2CF9AE}" pid="5" name="Producer">
    <vt:lpwstr>Canva</vt:lpwstr>
  </property>
</Properties>
</file>